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61" r:id="rId5"/>
    <p:sldId id="262" r:id="rId6"/>
    <p:sldId id="269" r:id="rId7"/>
    <p:sldId id="277" r:id="rId8"/>
    <p:sldId id="271" r:id="rId9"/>
    <p:sldId id="298" r:id="rId10"/>
    <p:sldId id="299" r:id="rId11"/>
    <p:sldId id="300" r:id="rId12"/>
    <p:sldId id="279" r:id="rId13"/>
    <p:sldId id="270" r:id="rId14"/>
    <p:sldId id="260" r:id="rId15"/>
  </p:sldIdLst>
  <p:sldSz cx="12192000" cy="6858000"/>
  <p:notesSz cx="6858000" cy="9144000"/>
  <p:embeddedFontLst>
    <p:embeddedFont>
      <p:font typeface="Inter" panose="020B0604020202020204" charset="0"/>
      <p:regular r:id="rId17"/>
      <p:bold r:id="rId18"/>
    </p:embeddedFont>
    <p:embeddedFont>
      <p:font typeface="Plus Jakarta Sans"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aw7R1ZIsv2CMvKNaVklE+ELCC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4C9"/>
    <a:srgbClr val="006B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6E0B3B-7621-4AE6-A7A6-C3353CE6CA92}" v="10" dt="2025-11-27T13:51:29.525"/>
  </p1510:revLst>
</p1510:revInfo>
</file>

<file path=ppt/tableStyles.xml><?xml version="1.0" encoding="utf-8"?>
<a:tblStyleLst xmlns:a="http://schemas.openxmlformats.org/drawingml/2006/main" def="{B1C1A5F2-C7F4-42EF-8194-A367FB17F6C2}">
  <a:tblStyle styleId="{B1C1A5F2-C7F4-42EF-8194-A367FB17F6C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5" d="100"/>
          <a:sy n="75" d="100"/>
        </p:scale>
        <p:origin x="73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konda Satya Vardhan" userId="fe9a0dac195d5b05" providerId="LiveId" clId="{9BC4AA9A-77CD-4157-B2E4-B72F8DE5979E}"/>
    <pc:docChg chg="undo custSel delSld modSld">
      <pc:chgData name="Manikonda Satya Vardhan" userId="fe9a0dac195d5b05" providerId="LiveId" clId="{9BC4AA9A-77CD-4157-B2E4-B72F8DE5979E}" dt="2025-11-27T13:52:15.793" v="1107" actId="47"/>
      <pc:docMkLst>
        <pc:docMk/>
      </pc:docMkLst>
      <pc:sldChg chg="modSp mod">
        <pc:chgData name="Manikonda Satya Vardhan" userId="fe9a0dac195d5b05" providerId="LiveId" clId="{9BC4AA9A-77CD-4157-B2E4-B72F8DE5979E}" dt="2025-11-27T13:46:27.123" v="992" actId="20577"/>
        <pc:sldMkLst>
          <pc:docMk/>
          <pc:sldMk cId="0" sldId="256"/>
        </pc:sldMkLst>
        <pc:spChg chg="mod">
          <ac:chgData name="Manikonda Satya Vardhan" userId="fe9a0dac195d5b05" providerId="LiveId" clId="{9BC4AA9A-77CD-4157-B2E4-B72F8DE5979E}" dt="2025-11-27T13:43:55.692" v="942" actId="14100"/>
          <ac:spMkLst>
            <pc:docMk/>
            <pc:sldMk cId="0" sldId="256"/>
            <ac:spMk id="2" creationId="{3DFA8DC0-A158-C902-9C43-44E49552607A}"/>
          </ac:spMkLst>
        </pc:spChg>
        <pc:spChg chg="mod">
          <ac:chgData name="Manikonda Satya Vardhan" userId="fe9a0dac195d5b05" providerId="LiveId" clId="{9BC4AA9A-77CD-4157-B2E4-B72F8DE5979E}" dt="2025-11-27T13:43:26.757" v="905" actId="20577"/>
          <ac:spMkLst>
            <pc:docMk/>
            <pc:sldMk cId="0" sldId="256"/>
            <ac:spMk id="36" creationId="{00000000-0000-0000-0000-000000000000}"/>
          </ac:spMkLst>
        </pc:spChg>
        <pc:spChg chg="mod">
          <ac:chgData name="Manikonda Satya Vardhan" userId="fe9a0dac195d5b05" providerId="LiveId" clId="{9BC4AA9A-77CD-4157-B2E4-B72F8DE5979E}" dt="2025-11-27T13:46:27.123" v="992" actId="20577"/>
          <ac:spMkLst>
            <pc:docMk/>
            <pc:sldMk cId="0" sldId="256"/>
            <ac:spMk id="40" creationId="{00000000-0000-0000-0000-000000000000}"/>
          </ac:spMkLst>
        </pc:spChg>
      </pc:sldChg>
      <pc:sldChg chg="modSp">
        <pc:chgData name="Manikonda Satya Vardhan" userId="fe9a0dac195d5b05" providerId="LiveId" clId="{9BC4AA9A-77CD-4157-B2E4-B72F8DE5979E}" dt="2025-11-27T13:48:38.262" v="1042"/>
        <pc:sldMkLst>
          <pc:docMk/>
          <pc:sldMk cId="0" sldId="270"/>
        </pc:sldMkLst>
        <pc:spChg chg="mod">
          <ac:chgData name="Manikonda Satya Vardhan" userId="fe9a0dac195d5b05" providerId="LiveId" clId="{9BC4AA9A-77CD-4157-B2E4-B72F8DE5979E}" dt="2025-11-27T13:48:38.262" v="1042"/>
          <ac:spMkLst>
            <pc:docMk/>
            <pc:sldMk cId="0" sldId="270"/>
            <ac:spMk id="19459" creationId="{8872F9E7-B9C4-D955-6488-B7B8AC5CCF09}"/>
          </ac:spMkLst>
        </pc:spChg>
      </pc:sldChg>
      <pc:sldChg chg="del">
        <pc:chgData name="Manikonda Satya Vardhan" userId="fe9a0dac195d5b05" providerId="LiveId" clId="{9BC4AA9A-77CD-4157-B2E4-B72F8DE5979E}" dt="2025-11-27T13:52:12.714" v="1105" actId="47"/>
        <pc:sldMkLst>
          <pc:docMk/>
          <pc:sldMk cId="0" sldId="295"/>
        </pc:sldMkLst>
      </pc:sldChg>
      <pc:sldChg chg="del">
        <pc:chgData name="Manikonda Satya Vardhan" userId="fe9a0dac195d5b05" providerId="LiveId" clId="{9BC4AA9A-77CD-4157-B2E4-B72F8DE5979E}" dt="2025-11-27T13:52:14.599" v="1106" actId="47"/>
        <pc:sldMkLst>
          <pc:docMk/>
          <pc:sldMk cId="0" sldId="296"/>
        </pc:sldMkLst>
      </pc:sldChg>
      <pc:sldChg chg="del">
        <pc:chgData name="Manikonda Satya Vardhan" userId="fe9a0dac195d5b05" providerId="LiveId" clId="{9BC4AA9A-77CD-4157-B2E4-B72F8DE5979E}" dt="2025-11-27T13:52:15.793" v="1107" actId="47"/>
        <pc:sldMkLst>
          <pc:docMk/>
          <pc:sldMk cId="0" sldId="297"/>
        </pc:sldMkLst>
      </pc:sldChg>
      <pc:sldChg chg="addSp modSp mod">
        <pc:chgData name="Manikonda Satya Vardhan" userId="fe9a0dac195d5b05" providerId="LiveId" clId="{9BC4AA9A-77CD-4157-B2E4-B72F8DE5979E}" dt="2025-11-27T13:52:01.666" v="1104" actId="1076"/>
        <pc:sldMkLst>
          <pc:docMk/>
          <pc:sldMk cId="3583386750" sldId="298"/>
        </pc:sldMkLst>
        <pc:spChg chg="mod">
          <ac:chgData name="Manikonda Satya Vardhan" userId="fe9a0dac195d5b05" providerId="LiveId" clId="{9BC4AA9A-77CD-4157-B2E4-B72F8DE5979E}" dt="2025-11-27T13:47:30.987" v="1034" actId="1076"/>
          <ac:spMkLst>
            <pc:docMk/>
            <pc:sldMk cId="3583386750" sldId="298"/>
            <ac:spMk id="3" creationId="{00000000-0000-0000-0000-000000000000}"/>
          </ac:spMkLst>
        </pc:spChg>
        <pc:graphicFrameChg chg="add mod modGraphic">
          <ac:chgData name="Manikonda Satya Vardhan" userId="fe9a0dac195d5b05" providerId="LiveId" clId="{9BC4AA9A-77CD-4157-B2E4-B72F8DE5979E}" dt="2025-11-27T13:52:01.666" v="1104" actId="1076"/>
          <ac:graphicFrameMkLst>
            <pc:docMk/>
            <pc:sldMk cId="3583386750" sldId="298"/>
            <ac:graphicFrameMk id="2" creationId="{F4BE95D1-4483-BCF8-B98C-3E921A90D974}"/>
          </ac:graphicFrameMkLst>
        </pc:graphicFrameChg>
      </pc:sldChg>
      <pc:sldChg chg="modSp mod">
        <pc:chgData name="Manikonda Satya Vardhan" userId="fe9a0dac195d5b05" providerId="LiveId" clId="{9BC4AA9A-77CD-4157-B2E4-B72F8DE5979E}" dt="2025-11-27T13:48:52.627" v="1043" actId="1076"/>
        <pc:sldMkLst>
          <pc:docMk/>
          <pc:sldMk cId="1932204920" sldId="299"/>
        </pc:sldMkLst>
        <pc:graphicFrameChg chg="mod">
          <ac:chgData name="Manikonda Satya Vardhan" userId="fe9a0dac195d5b05" providerId="LiveId" clId="{9BC4AA9A-77CD-4157-B2E4-B72F8DE5979E}" dt="2025-11-27T13:48:52.627" v="1043" actId="1076"/>
          <ac:graphicFrameMkLst>
            <pc:docMk/>
            <pc:sldMk cId="1932204920" sldId="299"/>
            <ac:graphicFrameMk id="4" creationId="{35CC7B27-C186-3E06-BF98-AE898CAA1B47}"/>
          </ac:graphicFrameMkLst>
        </pc:graphicFrameChg>
      </pc:sldChg>
      <pc:sldChg chg="addSp modSp mod">
        <pc:chgData name="Manikonda Satya Vardhan" userId="fe9a0dac195d5b05" providerId="LiveId" clId="{9BC4AA9A-77CD-4157-B2E4-B72F8DE5979E}" dt="2025-11-27T13:51:41.116" v="1100" actId="1076"/>
        <pc:sldMkLst>
          <pc:docMk/>
          <pc:sldMk cId="736555129" sldId="300"/>
        </pc:sldMkLst>
        <pc:spChg chg="mod">
          <ac:chgData name="Manikonda Satya Vardhan" userId="fe9a0dac195d5b05" providerId="LiveId" clId="{9BC4AA9A-77CD-4157-B2E4-B72F8DE5979E}" dt="2025-11-27T13:48:03.951" v="1041" actId="255"/>
          <ac:spMkLst>
            <pc:docMk/>
            <pc:sldMk cId="736555129" sldId="300"/>
            <ac:spMk id="3" creationId="{00000000-0000-0000-0000-000000000000}"/>
          </ac:spMkLst>
        </pc:spChg>
        <pc:graphicFrameChg chg="add mod modGraphic">
          <ac:chgData name="Manikonda Satya Vardhan" userId="fe9a0dac195d5b05" providerId="LiveId" clId="{9BC4AA9A-77CD-4157-B2E4-B72F8DE5979E}" dt="2025-11-27T13:51:41.116" v="1100" actId="1076"/>
          <ac:graphicFrameMkLst>
            <pc:docMk/>
            <pc:sldMk cId="736555129" sldId="300"/>
            <ac:graphicFrameMk id="2" creationId="{A36C1B95-18D9-BCF9-C727-A77AB9AF801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1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userDrawn="1">
  <p:cSld name="Custom Layout">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userDrawn="1">
  <p:cSld name="1_Custom Layout">
    <p:spTree>
      <p:nvGrpSpPr>
        <p:cNvPr id="1"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8_Title Slide">
  <p:cSld name="28_Title Slide">
    <p:spTree>
      <p:nvGrpSpPr>
        <p:cNvPr id="1" name="Shape 1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2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1_Title Slide" userDrawn="1">
  <p:cSld name="31_Title Slide">
    <p:spTree>
      <p:nvGrpSpPr>
        <p:cNvPr id="1" name="Shape 2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2_Title Slide" userDrawn="1">
  <p:cSld name="32_Title Slide">
    <p:spTree>
      <p:nvGrpSpPr>
        <p:cNvPr id="1" name="Shape 2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3_Title Slide" userDrawn="1">
  <p:cSld name="33_Title Slide">
    <p:spTree>
      <p:nvGrpSpPr>
        <p:cNvPr id="1" name="Shape 28"/>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5668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526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Shape 9"/>
        <p:cNvGrpSpPr/>
        <p:nvPr/>
      </p:nvGrpSpPr>
      <p:grpSpPr>
        <a:xfrm>
          <a:off x="0" y="0"/>
          <a:ext cx="0" cy="0"/>
          <a:chOff x="0" y="0"/>
          <a:chExt cx="0" cy="0"/>
        </a:xfrm>
      </p:grpSpPr>
      <p:pic>
        <p:nvPicPr>
          <p:cNvPr id="2" name="Picture 1"/>
          <p:cNvPicPr>
            <a:picLocks noChangeAspect="1"/>
          </p:cNvPicPr>
          <p:nvPr userDrawn="1"/>
        </p:nvPicPr>
        <p:blipFill rotWithShape="1">
          <a:blip r:embed="rId14">
            <a:extLst>
              <a:ext uri="{28A0092B-C50C-407E-A947-70E740481C1C}">
                <a14:useLocalDpi xmlns:a14="http://schemas.microsoft.com/office/drawing/2010/main" val="0"/>
              </a:ext>
            </a:extLst>
          </a:blip>
          <a:srcRect t="31397" b="29283"/>
          <a:stretch/>
        </p:blipFill>
        <p:spPr>
          <a:xfrm>
            <a:off x="9440091" y="181219"/>
            <a:ext cx="2481943" cy="975894"/>
          </a:xfrm>
          <a:prstGeom prst="rect">
            <a:avLst/>
          </a:prstGeom>
        </p:spPr>
      </p:pic>
      <p:sp>
        <p:nvSpPr>
          <p:cNvPr id="3" name="Slide Number Placeholder 2"/>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3200">
                <a:solidFill>
                  <a:srgbClr val="FF0000"/>
                </a:solidFill>
              </a:defRPr>
            </a:lvl1pPr>
          </a:lstStyle>
          <a:p>
            <a:fld id="{F76B3FF1-D561-4F3E-8E58-A3CF74636DED}" type="slidenum">
              <a:rPr lang="en-IN" smtClean="0"/>
              <a:pPr/>
              <a:t>‹#›</a:t>
            </a:fld>
            <a:endParaRPr lang="en-IN"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 id="2147483662" r:id="rId12"/>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hyperlink" Target="https://pubmed.ncbi.nlm.nih.gov/40504718/" TargetMode="External"/><Relationship Id="rId2" Type="http://schemas.openxmlformats.org/officeDocument/2006/relationships/hyperlink" Target="https://arxiv.org/abs/2411.15872" TargetMode="External"/><Relationship Id="rId1" Type="http://schemas.openxmlformats.org/officeDocument/2006/relationships/slideLayout" Target="../slideLayouts/slideLayout11.xml"/><Relationship Id="rId4" Type="http://schemas.openxmlformats.org/officeDocument/2006/relationships/hyperlink" Target="https://pubmed.ncbi.nlm.nih.gov/3999753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742065" y="1655839"/>
            <a:ext cx="10474598"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007069"/>
                </a:solidFill>
                <a:latin typeface="Inter"/>
                <a:ea typeface="Inter"/>
                <a:cs typeface="Inter"/>
                <a:sym typeface="Inter"/>
              </a:rPr>
              <a:t>BRAIN TUMOR CLASSIFICATION USING HYBRID INTELLIGENCE</a:t>
            </a:r>
            <a:endParaRPr sz="800" dirty="0">
              <a:latin typeface="Inter"/>
              <a:ea typeface="Inter"/>
              <a:cs typeface="Inter"/>
              <a:sym typeface="Inter"/>
            </a:endParaRPr>
          </a:p>
        </p:txBody>
      </p:sp>
      <p:grpSp>
        <p:nvGrpSpPr>
          <p:cNvPr id="37" name="Google Shape;37;p1"/>
          <p:cNvGrpSpPr/>
          <p:nvPr/>
        </p:nvGrpSpPr>
        <p:grpSpPr>
          <a:xfrm>
            <a:off x="599802" y="1570394"/>
            <a:ext cx="10474598" cy="940767"/>
            <a:chOff x="894442" y="2675335"/>
            <a:chExt cx="7570108" cy="940767"/>
          </a:xfrm>
        </p:grpSpPr>
        <p:sp>
          <p:nvSpPr>
            <p:cNvPr id="38" name="Google Shape;38;p1"/>
            <p:cNvSpPr/>
            <p:nvPr/>
          </p:nvSpPr>
          <p:spPr>
            <a:xfrm>
              <a:off x="894442" y="2675335"/>
              <a:ext cx="7570108" cy="45719"/>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Inter"/>
                <a:ea typeface="Inter"/>
                <a:cs typeface="Inter"/>
                <a:sym typeface="Inter"/>
              </a:endParaRPr>
            </a:p>
          </p:txBody>
        </p:sp>
        <p:sp>
          <p:nvSpPr>
            <p:cNvPr id="39" name="Google Shape;39;p1"/>
            <p:cNvSpPr/>
            <p:nvPr/>
          </p:nvSpPr>
          <p:spPr>
            <a:xfrm>
              <a:off x="894442" y="3570383"/>
              <a:ext cx="7570108" cy="45719"/>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Inter"/>
                <a:ea typeface="Inter"/>
                <a:cs typeface="Inter"/>
                <a:sym typeface="Inter"/>
              </a:endParaRPr>
            </a:p>
          </p:txBody>
        </p:sp>
      </p:grpSp>
      <p:sp>
        <p:nvSpPr>
          <p:cNvPr id="40" name="Google Shape;40;p1"/>
          <p:cNvSpPr txBox="1"/>
          <p:nvPr/>
        </p:nvSpPr>
        <p:spPr>
          <a:xfrm>
            <a:off x="742065" y="3470918"/>
            <a:ext cx="5709535"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none" dirty="0">
                <a:solidFill>
                  <a:srgbClr val="004740"/>
                </a:solidFill>
                <a:latin typeface="Inter"/>
                <a:ea typeface="Inter"/>
                <a:cs typeface="Inter"/>
                <a:sym typeface="Inter"/>
              </a:rPr>
              <a:t>Presenter Names: </a:t>
            </a:r>
          </a:p>
          <a:p>
            <a:pPr marL="0" marR="0" lvl="0" indent="0" algn="l" rtl="0">
              <a:spcBef>
                <a:spcPts val="0"/>
              </a:spcBef>
              <a:spcAft>
                <a:spcPts val="0"/>
              </a:spcAft>
              <a:buNone/>
            </a:pPr>
            <a:r>
              <a:rPr lang="en-US" sz="1600" dirty="0">
                <a:solidFill>
                  <a:srgbClr val="FF0000"/>
                </a:solidFill>
                <a:latin typeface="Inter"/>
                <a:ea typeface="Inter"/>
                <a:cs typeface="Inter"/>
                <a:sym typeface="Inter"/>
              </a:rPr>
              <a:t>VU22CSEN0300234 – AKSHAT VASHISTH</a:t>
            </a:r>
          </a:p>
          <a:p>
            <a:pPr marL="0" marR="0" lvl="0" indent="0" algn="l" rtl="0">
              <a:spcBef>
                <a:spcPts val="0"/>
              </a:spcBef>
              <a:spcAft>
                <a:spcPts val="0"/>
              </a:spcAft>
              <a:buNone/>
            </a:pPr>
            <a:r>
              <a:rPr lang="en-US" sz="1600" dirty="0">
                <a:solidFill>
                  <a:srgbClr val="FF0000"/>
                </a:solidFill>
                <a:latin typeface="Inter"/>
                <a:ea typeface="Inter"/>
                <a:cs typeface="Inter"/>
                <a:sym typeface="Inter"/>
              </a:rPr>
              <a:t>VU22CSEN0300205 – MANIKONDA SATYA VARDHAN</a:t>
            </a:r>
          </a:p>
          <a:p>
            <a:pPr marL="0" marR="0" lvl="0" indent="0" algn="l" rtl="0">
              <a:spcBef>
                <a:spcPts val="0"/>
              </a:spcBef>
              <a:spcAft>
                <a:spcPts val="0"/>
              </a:spcAft>
              <a:buNone/>
            </a:pPr>
            <a:r>
              <a:rPr lang="en-US" sz="1600" dirty="0">
                <a:solidFill>
                  <a:srgbClr val="FF0000"/>
                </a:solidFill>
                <a:latin typeface="Inter"/>
                <a:ea typeface="Inter"/>
                <a:cs typeface="Inter"/>
                <a:sym typeface="Inter"/>
              </a:rPr>
              <a:t>VU22CSEN0300300 – MUPPASANI SHRUTHIKKA </a:t>
            </a:r>
          </a:p>
        </p:txBody>
      </p:sp>
      <p:sp>
        <p:nvSpPr>
          <p:cNvPr id="2" name="Google Shape;40;p1">
            <a:extLst>
              <a:ext uri="{FF2B5EF4-FFF2-40B4-BE49-F238E27FC236}">
                <a16:creationId xmlns:a16="http://schemas.microsoft.com/office/drawing/2014/main" id="{3DFA8DC0-A158-C902-9C43-44E49552607A}"/>
              </a:ext>
            </a:extLst>
          </p:cNvPr>
          <p:cNvSpPr txBox="1"/>
          <p:nvPr/>
        </p:nvSpPr>
        <p:spPr>
          <a:xfrm>
            <a:off x="7134062" y="3429000"/>
            <a:ext cx="4641377" cy="830956"/>
          </a:xfrm>
          <a:prstGeom prst="rect">
            <a:avLst/>
          </a:prstGeom>
          <a:noFill/>
          <a:ln>
            <a:noFill/>
          </a:ln>
        </p:spPr>
        <p:txBody>
          <a:bodyPr spcFirstLastPara="1" wrap="square" lIns="91425" tIns="45700" rIns="91425" bIns="45700" anchor="t" anchorCtr="0">
            <a:spAutoFit/>
          </a:bodyPr>
          <a:lstStyle/>
          <a:p>
            <a:pPr lvl="0"/>
            <a:r>
              <a:rPr lang="en-US" sz="2400" dirty="0">
                <a:solidFill>
                  <a:srgbClr val="004740"/>
                </a:solidFill>
                <a:latin typeface="Inter"/>
                <a:ea typeface="Inter"/>
                <a:cs typeface="Inter"/>
                <a:sym typeface="Inter"/>
              </a:rPr>
              <a:t>Guide</a:t>
            </a:r>
            <a:r>
              <a:rPr lang="en-US" sz="2400" u="none" dirty="0">
                <a:solidFill>
                  <a:srgbClr val="004740"/>
                </a:solidFill>
                <a:latin typeface="Inter"/>
                <a:ea typeface="Inter"/>
                <a:cs typeface="Inter"/>
                <a:sym typeface="Inter"/>
              </a:rPr>
              <a:t> Name: </a:t>
            </a:r>
          </a:p>
          <a:p>
            <a:pPr lvl="0"/>
            <a:r>
              <a:rPr lang="en-US" sz="2400" dirty="0">
                <a:solidFill>
                  <a:srgbClr val="FF0000"/>
                </a:solidFill>
                <a:latin typeface="Inter"/>
                <a:ea typeface="Inter"/>
                <a:cs typeface="Inter"/>
                <a:sym typeface="Inter"/>
              </a:rPr>
              <a:t>Dr. G Venkata </a:t>
            </a:r>
            <a:r>
              <a:rPr lang="en-US" sz="2400" dirty="0" err="1">
                <a:solidFill>
                  <a:srgbClr val="FF0000"/>
                </a:solidFill>
                <a:latin typeface="Inter"/>
                <a:ea typeface="Inter"/>
                <a:cs typeface="Inter"/>
                <a:sym typeface="Inter"/>
              </a:rPr>
              <a:t>Sivanarayana</a:t>
            </a:r>
            <a:endParaRPr sz="1600" dirty="0">
              <a:solidFill>
                <a:srgbClr val="FF0000"/>
              </a:solidFill>
              <a:latin typeface="Inter"/>
              <a:ea typeface="Inter"/>
              <a:cs typeface="Inter"/>
              <a:sym typeface="Inter"/>
            </a:endParaRPr>
          </a:p>
        </p:txBody>
      </p:sp>
      <p:sp>
        <p:nvSpPr>
          <p:cNvPr id="8" name="TextBox 7">
            <a:extLst>
              <a:ext uri="{FF2B5EF4-FFF2-40B4-BE49-F238E27FC236}">
                <a16:creationId xmlns:a16="http://schemas.microsoft.com/office/drawing/2014/main" id="{F004F311-C6F8-C34F-CF59-16801E5518FE}"/>
              </a:ext>
            </a:extLst>
          </p:cNvPr>
          <p:cNvSpPr txBox="1"/>
          <p:nvPr/>
        </p:nvSpPr>
        <p:spPr>
          <a:xfrm>
            <a:off x="2651964" y="5868183"/>
            <a:ext cx="6096000" cy="738664"/>
          </a:xfrm>
          <a:prstGeom prst="rect">
            <a:avLst/>
          </a:prstGeom>
          <a:noFill/>
        </p:spPr>
        <p:txBody>
          <a:bodyPr wrap="square">
            <a:spAutoFit/>
          </a:bodyPr>
          <a:lstStyle/>
          <a:p>
            <a:pPr algn="ctr" eaLnBrk="1" hangingPunct="1">
              <a:spcBef>
                <a:spcPct val="0"/>
              </a:spcBef>
              <a:buFontTx/>
              <a:buNone/>
            </a:pPr>
            <a:r>
              <a:rPr lang="en-IN" altLang="en-US" sz="1400" b="1" dirty="0">
                <a:solidFill>
                  <a:srgbClr val="000099"/>
                </a:solidFill>
                <a:latin typeface="Times New Roman" panose="02020603050405020304" pitchFamily="18" charset="0"/>
                <a:cs typeface="Times New Roman" panose="02020603050405020304" pitchFamily="18" charset="0"/>
              </a:rPr>
              <a:t>Department of Computer Science and Engineering</a:t>
            </a:r>
          </a:p>
          <a:p>
            <a:pPr algn="ctr" eaLnBrk="1" hangingPunct="1">
              <a:spcBef>
                <a:spcPct val="0"/>
              </a:spcBef>
              <a:buFontTx/>
              <a:buNone/>
            </a:pPr>
            <a:r>
              <a:rPr lang="en-US" altLang="en-US" sz="1400" dirty="0">
                <a:latin typeface="Times New Roman" panose="02020603050405020304" pitchFamily="18" charset="0"/>
                <a:cs typeface="Times New Roman" panose="02020603050405020304" pitchFamily="18" charset="0"/>
              </a:rPr>
              <a:t>GITAM School of CSE, GITAM (Deemed to be University),</a:t>
            </a:r>
          </a:p>
          <a:p>
            <a:pPr algn="ctr" eaLnBrk="1" hangingPunct="1">
              <a:spcBef>
                <a:spcPct val="0"/>
              </a:spcBef>
              <a:buFontTx/>
              <a:buNone/>
            </a:pPr>
            <a:r>
              <a:rPr lang="en-US" altLang="en-US" sz="1400" dirty="0">
                <a:latin typeface="Times New Roman" panose="02020603050405020304" pitchFamily="18" charset="0"/>
                <a:cs typeface="Times New Roman" panose="02020603050405020304" pitchFamily="18" charset="0"/>
              </a:rPr>
              <a:t>Visakhapatnam.</a:t>
            </a:r>
            <a:endParaRPr lang="en-IN" altLang="en-US" sz="1400" b="1" dirty="0">
              <a:solidFill>
                <a:srgbClr val="00009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2"/>
          <p:cNvSpPr txBox="1"/>
          <p:nvPr/>
        </p:nvSpPr>
        <p:spPr>
          <a:xfrm>
            <a:off x="659066" y="1211141"/>
            <a:ext cx="47898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dirty="0">
                <a:solidFill>
                  <a:srgbClr val="007367"/>
                </a:solidFill>
                <a:latin typeface="Inter"/>
                <a:ea typeface="Inter"/>
                <a:cs typeface="Inter"/>
                <a:sym typeface="Inter"/>
              </a:rPr>
              <a:t>Contents</a:t>
            </a:r>
            <a:endParaRPr dirty="0">
              <a:latin typeface="Inter"/>
              <a:ea typeface="Inter"/>
              <a:cs typeface="Inter"/>
              <a:sym typeface="Inter"/>
            </a:endParaRPr>
          </a:p>
        </p:txBody>
      </p:sp>
      <p:sp>
        <p:nvSpPr>
          <p:cNvPr id="46" name="Google Shape;46;p2"/>
          <p:cNvSpPr txBox="1"/>
          <p:nvPr/>
        </p:nvSpPr>
        <p:spPr>
          <a:xfrm>
            <a:off x="659066" y="2018457"/>
            <a:ext cx="5273700" cy="378561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defRPr/>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defRPr/>
            </a:pPr>
            <a:r>
              <a:rPr lang="en-IN" sz="2400" dirty="0">
                <a:latin typeface="Times New Roman" panose="02020603050405020304" pitchFamily="18" charset="0"/>
                <a:cs typeface="Times New Roman" panose="02020603050405020304" pitchFamily="18" charset="0"/>
              </a:rPr>
              <a:t>Abstract</a:t>
            </a:r>
          </a:p>
          <a:p>
            <a:pPr marL="457200" indent="-457200">
              <a:buFont typeface="+mj-lt"/>
              <a:buAutoNum type="arabicPeriod"/>
              <a:defRPr/>
            </a:pPr>
            <a:r>
              <a:rPr lang="en-IN" sz="2400" dirty="0">
                <a:latin typeface="Times New Roman" panose="02020603050405020304" pitchFamily="18" charset="0"/>
                <a:cs typeface="Times New Roman" panose="02020603050405020304" pitchFamily="18" charset="0"/>
              </a:rPr>
              <a:t>Introduction</a:t>
            </a:r>
          </a:p>
          <a:p>
            <a:pPr marL="457200" indent="-457200">
              <a:buFont typeface="+mj-lt"/>
              <a:buAutoNum type="arabicPeriod"/>
              <a:defRPr/>
            </a:pPr>
            <a:r>
              <a:rPr lang="en-US" sz="2400" dirty="0">
                <a:latin typeface="Times New Roman" panose="02020603050405020304" pitchFamily="18" charset="0"/>
                <a:cs typeface="Times New Roman" panose="02020603050405020304" pitchFamily="18" charset="0"/>
              </a:rPr>
              <a:t>Literature Survey</a:t>
            </a:r>
          </a:p>
          <a:p>
            <a:pPr marL="457200" indent="-457200">
              <a:buFont typeface="+mj-lt"/>
              <a:buAutoNum type="arabicPeriod"/>
              <a:defRPr/>
            </a:pPr>
            <a:r>
              <a:rPr lang="en-US" sz="2400" dirty="0">
                <a:latin typeface="Times New Roman" panose="02020603050405020304" pitchFamily="18" charset="0"/>
                <a:cs typeface="Times New Roman" panose="02020603050405020304" pitchFamily="18" charset="0"/>
              </a:rPr>
              <a:t>Problem Statements</a:t>
            </a:r>
          </a:p>
          <a:p>
            <a:pPr marL="457200" indent="-457200">
              <a:buFont typeface="+mj-lt"/>
              <a:buAutoNum type="arabicPeriod"/>
              <a:defRPr/>
            </a:pPr>
            <a:r>
              <a:rPr lang="en-US" sz="2400" dirty="0">
                <a:latin typeface="Times New Roman" panose="02020603050405020304" pitchFamily="18" charset="0"/>
                <a:cs typeface="Times New Roman" panose="02020603050405020304" pitchFamily="18" charset="0"/>
              </a:rPr>
              <a:t>Objectives</a:t>
            </a:r>
          </a:p>
          <a:p>
            <a:pPr marL="457200" indent="-457200">
              <a:buFont typeface="+mj-lt"/>
              <a:buAutoNum type="arabicPeriod"/>
              <a:defRPr/>
            </a:pPr>
            <a:r>
              <a:rPr lang="en-US" sz="2400" dirty="0">
                <a:latin typeface="Times New Roman" panose="02020603050405020304" pitchFamily="18" charset="0"/>
                <a:cs typeface="Times New Roman" panose="02020603050405020304" pitchFamily="18" charset="0"/>
              </a:rPr>
              <a:t>Work Breakdown &amp; Task Allocation</a:t>
            </a:r>
          </a:p>
          <a:p>
            <a:pPr marL="457200" indent="-457200">
              <a:buFont typeface="+mj-lt"/>
              <a:buAutoNum type="arabicPeriod"/>
              <a:defRPr/>
            </a:pPr>
            <a:r>
              <a:rPr lang="en-US" sz="2400" dirty="0">
                <a:latin typeface="Times New Roman" panose="02020603050405020304" pitchFamily="18" charset="0"/>
                <a:cs typeface="Times New Roman" panose="02020603050405020304" pitchFamily="18" charset="0"/>
              </a:rPr>
              <a:t>Conclusion</a:t>
            </a:r>
          </a:p>
          <a:p>
            <a:pPr marL="457200" indent="-457200">
              <a:buFont typeface="+mj-lt"/>
              <a:buAutoNum type="arabicPeriod"/>
              <a:defRPr/>
            </a:pPr>
            <a:r>
              <a:rPr lang="en-US" sz="2400" dirty="0">
                <a:latin typeface="Times New Roman" panose="02020603050405020304" pitchFamily="18" charset="0"/>
                <a:cs typeface="Times New Roman" panose="02020603050405020304" pitchFamily="18" charset="0"/>
              </a:rPr>
              <a:t>References</a:t>
            </a:r>
          </a:p>
          <a:p>
            <a:endParaRPr lang="en-US" sz="2400" b="1" dirty="0">
              <a:solidFill>
                <a:srgbClr val="A58255"/>
              </a:solidFill>
              <a:latin typeface="Inter"/>
              <a:ea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
          <p:cNvSpPr txBox="1"/>
          <p:nvPr/>
        </p:nvSpPr>
        <p:spPr>
          <a:xfrm>
            <a:off x="426719" y="230233"/>
            <a:ext cx="2448561" cy="728428"/>
          </a:xfrm>
          <a:prstGeom prst="rect">
            <a:avLst/>
          </a:prstGeom>
          <a:noFill/>
          <a:ln>
            <a:noFill/>
          </a:ln>
        </p:spPr>
        <p:txBody>
          <a:bodyPr spcFirstLastPara="1" wrap="square" lIns="91425" tIns="45700" rIns="91425" bIns="45700" anchor="t" anchorCtr="0">
            <a:noAutofit/>
          </a:bodyPr>
          <a:lstStyle/>
          <a:p>
            <a:pPr lvl="0"/>
            <a:r>
              <a:rPr lang="en-US" sz="3600" b="1" dirty="0">
                <a:solidFill>
                  <a:srgbClr val="007069"/>
                </a:solidFill>
                <a:latin typeface="Inter"/>
                <a:ea typeface="Inter"/>
                <a:cs typeface="Inter"/>
                <a:sym typeface="Inter"/>
              </a:rPr>
              <a:t>Abstract</a:t>
            </a:r>
          </a:p>
        </p:txBody>
      </p:sp>
      <p:sp>
        <p:nvSpPr>
          <p:cNvPr id="2" name="TextBox 1">
            <a:extLst>
              <a:ext uri="{FF2B5EF4-FFF2-40B4-BE49-F238E27FC236}">
                <a16:creationId xmlns:a16="http://schemas.microsoft.com/office/drawing/2014/main" id="{6F8D1AC3-BFFF-2147-759F-832AC5747B6E}"/>
              </a:ext>
            </a:extLst>
          </p:cNvPr>
          <p:cNvSpPr txBox="1"/>
          <p:nvPr/>
        </p:nvSpPr>
        <p:spPr>
          <a:xfrm>
            <a:off x="701040" y="1382286"/>
            <a:ext cx="10789920"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design of optimal neural network architectures is a critical challenge in medical imaging, particularly for tasks like MRI-based brain tumor classification. Traditional methods, such as manual tuning or single-algorithm optimization, often suffer from limitations like premature convergence, hyperparameter dependence, or lack of generalization. This project proposes a </a:t>
            </a:r>
            <a:r>
              <a:rPr lang="en-US" sz="2000" b="1" dirty="0">
                <a:latin typeface="Times New Roman" panose="02020603050405020304" pitchFamily="18" charset="0"/>
                <a:cs typeface="Times New Roman" panose="02020603050405020304" pitchFamily="18" charset="0"/>
              </a:rPr>
              <a:t>hybrid swarm intelligence framework</a:t>
            </a:r>
            <a:r>
              <a:rPr lang="en-US" sz="2000" dirty="0">
                <a:latin typeface="Times New Roman" panose="02020603050405020304" pitchFamily="18" charset="0"/>
                <a:cs typeface="Times New Roman" panose="02020603050405020304" pitchFamily="18" charset="0"/>
              </a:rPr>
              <a:t> that combines </a:t>
            </a:r>
            <a:r>
              <a:rPr lang="en-US" sz="2000" b="1" dirty="0">
                <a:latin typeface="Times New Roman" panose="02020603050405020304" pitchFamily="18" charset="0"/>
                <a:cs typeface="Times New Roman" panose="02020603050405020304" pitchFamily="18" charset="0"/>
              </a:rPr>
              <a:t>Particle Swarm Optimization (PSO)</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Genetic Algorithms (GA)</a:t>
            </a:r>
            <a:r>
              <a:rPr lang="en-US" sz="2000" dirty="0">
                <a:latin typeface="Times New Roman" panose="02020603050405020304" pitchFamily="18" charset="0"/>
                <a:cs typeface="Times New Roman" panose="02020603050405020304" pitchFamily="18" charset="0"/>
              </a:rPr>
              <a:t> to overcome the challenges like detecting brain tumors and types of brain tumors. PSO’s strength in </a:t>
            </a:r>
            <a:r>
              <a:rPr lang="en-US" sz="2000" b="1" dirty="0">
                <a:latin typeface="Times New Roman" panose="02020603050405020304" pitchFamily="18" charset="0"/>
                <a:cs typeface="Times New Roman" panose="02020603050405020304" pitchFamily="18" charset="0"/>
              </a:rPr>
              <a:t>global exploration</a:t>
            </a:r>
            <a:r>
              <a:rPr lang="en-US" sz="2000" dirty="0">
                <a:latin typeface="Times New Roman" panose="02020603050405020304" pitchFamily="18" charset="0"/>
                <a:cs typeface="Times New Roman" panose="02020603050405020304" pitchFamily="18" charset="0"/>
              </a:rPr>
              <a:t> is leveraged to quickly identify promising architectural regions, while GA’s </a:t>
            </a:r>
            <a:r>
              <a:rPr lang="en-US" sz="2000" b="1" dirty="0">
                <a:latin typeface="Times New Roman" panose="02020603050405020304" pitchFamily="18" charset="0"/>
                <a:cs typeface="Times New Roman" panose="02020603050405020304" pitchFamily="18" charset="0"/>
              </a:rPr>
              <a:t>fine-tuning capabilities</a:t>
            </a:r>
            <a:r>
              <a:rPr lang="en-US" sz="2000" dirty="0">
                <a:latin typeface="Times New Roman" panose="02020603050405020304" pitchFamily="18" charset="0"/>
                <a:cs typeface="Times New Roman" panose="02020603050405020304" pitchFamily="18" charset="0"/>
              </a:rPr>
              <a:t> refine these architectures to achieve superior performance. The framework aims to </a:t>
            </a:r>
            <a:r>
              <a:rPr lang="en-US" sz="2000" b="1" dirty="0">
                <a:latin typeface="Times New Roman" panose="02020603050405020304" pitchFamily="18" charset="0"/>
                <a:cs typeface="Times New Roman" panose="02020603050405020304" pitchFamily="18" charset="0"/>
              </a:rPr>
              <a:t>automate and generalize</a:t>
            </a:r>
            <a:r>
              <a:rPr lang="en-US" sz="2000" dirty="0">
                <a:latin typeface="Times New Roman" panose="02020603050405020304" pitchFamily="18" charset="0"/>
                <a:cs typeface="Times New Roman" panose="02020603050405020304" pitchFamily="18" charset="0"/>
              </a:rPr>
              <a:t> the neural architecture search process, making it applicable not only to Convolutional Neural Networks (CNNs) but also to other paradigms like Recurrent Neural Networks (RNNs) and Long Short-Term Memory (LSTM) networks. By validating the framework on diverse medical imaging datasets, this research seeks to demonstrate its </a:t>
            </a:r>
            <a:r>
              <a:rPr lang="en-US" sz="2000" b="1" dirty="0">
                <a:latin typeface="Times New Roman" panose="02020603050405020304" pitchFamily="18" charset="0"/>
                <a:cs typeface="Times New Roman" panose="02020603050405020304" pitchFamily="18" charset="0"/>
              </a:rPr>
              <a:t>robustness, efficiency, and scalability</a:t>
            </a:r>
            <a:r>
              <a:rPr lang="en-US" sz="2000" dirty="0">
                <a:latin typeface="Times New Roman" panose="02020603050405020304" pitchFamily="18" charset="0"/>
                <a:cs typeface="Times New Roman" panose="02020603050405020304" pitchFamily="18" charset="0"/>
              </a:rPr>
              <a:t>, ultimately contributing to more accurate and adaptable AI models for healthcare applications.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4">
            <a:extLst>
              <a:ext uri="{FF2B5EF4-FFF2-40B4-BE49-F238E27FC236}">
                <a16:creationId xmlns:a16="http://schemas.microsoft.com/office/drawing/2014/main" id="{C6D326DB-6C54-EF56-48F3-210543C76EE5}"/>
              </a:ext>
            </a:extLst>
          </p:cNvPr>
          <p:cNvSpPr>
            <a:spLocks noChangeArrowheads="1"/>
          </p:cNvSpPr>
          <p:nvPr/>
        </p:nvSpPr>
        <p:spPr bwMode="auto">
          <a:xfrm>
            <a:off x="127953" y="150179"/>
            <a:ext cx="2980303"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Introduction</a:t>
            </a:r>
          </a:p>
        </p:txBody>
      </p:sp>
      <p:sp>
        <p:nvSpPr>
          <p:cNvPr id="2" name="TextBox 1">
            <a:extLst>
              <a:ext uri="{FF2B5EF4-FFF2-40B4-BE49-F238E27FC236}">
                <a16:creationId xmlns:a16="http://schemas.microsoft.com/office/drawing/2014/main" id="{D006FCB1-50E2-4D2E-0B70-9CC9C8403E06}"/>
              </a:ext>
            </a:extLst>
          </p:cNvPr>
          <p:cNvSpPr txBox="1"/>
          <p:nvPr/>
        </p:nvSpPr>
        <p:spPr>
          <a:xfrm>
            <a:off x="304800" y="1005840"/>
            <a:ext cx="11145520" cy="594008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Artificial Intelligence (AI) and deep learning have revolutionized medical imaging, enabling automated and accurate diagnosis of conditions like brain tumors from MRI scans. However, designing optimal neural network architectures remains a </a:t>
            </a:r>
            <a:r>
              <a:rPr lang="en-US" sz="2000" b="1" dirty="0">
                <a:latin typeface="Times New Roman" panose="02020603050405020304" pitchFamily="18" charset="0"/>
                <a:cs typeface="Times New Roman" panose="02020603050405020304" pitchFamily="18" charset="0"/>
              </a:rPr>
              <a:t>complex and time-consuming</a:t>
            </a:r>
            <a:r>
              <a:rPr lang="en-US" sz="2000" dirty="0">
                <a:latin typeface="Times New Roman" panose="02020603050405020304" pitchFamily="18" charset="0"/>
                <a:cs typeface="Times New Roman" panose="02020603050405020304" pitchFamily="18" charset="0"/>
              </a:rPr>
              <a:t> task, often relying on manual expertise or trial-and-error approaches. Traditional optimization techniques, such as </a:t>
            </a:r>
            <a:r>
              <a:rPr lang="en-US" sz="2000" b="1" dirty="0">
                <a:latin typeface="Times New Roman" panose="02020603050405020304" pitchFamily="18" charset="0"/>
                <a:cs typeface="Times New Roman" panose="02020603050405020304" pitchFamily="18" charset="0"/>
              </a:rPr>
              <a:t>Particle Swarm Optimization (PSO)</a:t>
            </a:r>
            <a:r>
              <a:rPr lang="en-US" sz="2000" dirty="0">
                <a:latin typeface="Times New Roman" panose="02020603050405020304" pitchFamily="18" charset="0"/>
                <a:cs typeface="Times New Roman" panose="02020603050405020304" pitchFamily="18" charset="0"/>
              </a:rPr>
              <a:t>, are effective but can suffer from </a:t>
            </a:r>
            <a:r>
              <a:rPr lang="en-US" sz="2000" b="1" dirty="0">
                <a:latin typeface="Times New Roman" panose="02020603050405020304" pitchFamily="18" charset="0"/>
                <a:cs typeface="Times New Roman" panose="02020603050405020304" pitchFamily="18" charset="0"/>
              </a:rPr>
              <a:t>premature convergence</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hyperparameter dependence</a:t>
            </a:r>
            <a:r>
              <a:rPr lang="en-US" sz="2000" dirty="0">
                <a:latin typeface="Times New Roman" panose="02020603050405020304" pitchFamily="18" charset="0"/>
                <a:cs typeface="Times New Roman" panose="02020603050405020304" pitchFamily="18" charset="0"/>
              </a:rPr>
              <a:t>, limiting their ability to explore the full range of possible architectures. Similarly, </a:t>
            </a:r>
            <a:r>
              <a:rPr lang="en-US" sz="2000" b="1" dirty="0">
                <a:latin typeface="Times New Roman" panose="02020603050405020304" pitchFamily="18" charset="0"/>
                <a:cs typeface="Times New Roman" panose="02020603050405020304" pitchFamily="18" charset="0"/>
              </a:rPr>
              <a:t>Genetic Algorithms (GA)</a:t>
            </a:r>
            <a:r>
              <a:rPr lang="en-US" sz="2000" dirty="0">
                <a:latin typeface="Times New Roman" panose="02020603050405020304" pitchFamily="18" charset="0"/>
                <a:cs typeface="Times New Roman" panose="02020603050405020304" pitchFamily="18" charset="0"/>
              </a:rPr>
              <a:t> excel at fine-tuning solutions but are often </a:t>
            </a:r>
            <a:r>
              <a:rPr lang="en-US" sz="2000" b="1" dirty="0">
                <a:latin typeface="Times New Roman" panose="02020603050405020304" pitchFamily="18" charset="0"/>
                <a:cs typeface="Times New Roman" panose="02020603050405020304" pitchFamily="18" charset="0"/>
              </a:rPr>
              <a:t>slow in exploring large search spaces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To address these limitations, this project introduces a </a:t>
            </a:r>
            <a:r>
              <a:rPr lang="en-US" sz="2000" b="1" dirty="0">
                <a:latin typeface="Times New Roman" panose="02020603050405020304" pitchFamily="18" charset="0"/>
                <a:cs typeface="Times New Roman" panose="02020603050405020304" pitchFamily="18" charset="0"/>
              </a:rPr>
              <a:t>hybrid swarm intelligence framework</a:t>
            </a:r>
            <a:r>
              <a:rPr lang="en-US" sz="2000" dirty="0">
                <a:latin typeface="Times New Roman" panose="02020603050405020304" pitchFamily="18" charset="0"/>
                <a:cs typeface="Times New Roman" panose="02020603050405020304" pitchFamily="18" charset="0"/>
              </a:rPr>
              <a:t> that integrates PSO and GA. By combining PSO’s </a:t>
            </a:r>
            <a:r>
              <a:rPr lang="en-US" sz="2000" b="1" dirty="0">
                <a:latin typeface="Times New Roman" panose="02020603050405020304" pitchFamily="18" charset="0"/>
                <a:cs typeface="Times New Roman" panose="02020603050405020304" pitchFamily="18" charset="0"/>
              </a:rPr>
              <a:t>global exploration</a:t>
            </a:r>
            <a:r>
              <a:rPr lang="en-US" sz="2000" dirty="0">
                <a:latin typeface="Times New Roman" panose="02020603050405020304" pitchFamily="18" charset="0"/>
                <a:cs typeface="Times New Roman" panose="02020603050405020304" pitchFamily="18" charset="0"/>
              </a:rPr>
              <a:t> with GA’s </a:t>
            </a:r>
            <a:r>
              <a:rPr lang="en-US" sz="2000" b="1" dirty="0">
                <a:latin typeface="Times New Roman" panose="02020603050405020304" pitchFamily="18" charset="0"/>
                <a:cs typeface="Times New Roman" panose="02020603050405020304" pitchFamily="18" charset="0"/>
              </a:rPr>
              <a:t>local exploitation</a:t>
            </a:r>
            <a:r>
              <a:rPr lang="en-US" sz="2000" dirty="0">
                <a:latin typeface="Times New Roman" panose="02020603050405020304" pitchFamily="18" charset="0"/>
                <a:cs typeface="Times New Roman" panose="02020603050405020304" pitchFamily="18" charset="0"/>
              </a:rPr>
              <a:t>, the framework aims to </a:t>
            </a:r>
            <a:r>
              <a:rPr lang="en-US" sz="2000" b="1" dirty="0">
                <a:latin typeface="Times New Roman" panose="02020603050405020304" pitchFamily="18" charset="0"/>
                <a:cs typeface="Times New Roman" panose="02020603050405020304" pitchFamily="18" charset="0"/>
              </a:rPr>
              <a:t>automate the design of neural networks</a:t>
            </a:r>
            <a:r>
              <a:rPr lang="en-US" sz="2000" dirty="0">
                <a:latin typeface="Times New Roman" panose="02020603050405020304" pitchFamily="18" charset="0"/>
                <a:cs typeface="Times New Roman" panose="02020603050405020304" pitchFamily="18" charset="0"/>
              </a:rPr>
              <a:t>, making the process </a:t>
            </a:r>
            <a:r>
              <a:rPr lang="en-US" sz="2000" b="1" dirty="0">
                <a:latin typeface="Times New Roman" panose="02020603050405020304" pitchFamily="18" charset="0"/>
                <a:cs typeface="Times New Roman" panose="02020603050405020304" pitchFamily="18" charset="0"/>
              </a:rPr>
              <a:t>faster, more robust, and generalizable</a:t>
            </a:r>
            <a:r>
              <a:rPr lang="en-US" sz="2000" dirty="0">
                <a:latin typeface="Times New Roman" panose="02020603050405020304" pitchFamily="18" charset="0"/>
                <a:cs typeface="Times New Roman" panose="02020603050405020304" pitchFamily="18" charset="0"/>
              </a:rPr>
              <a:t> across different tasks and network types. This approach is particularly valuable in medical imaging, where the </a:t>
            </a:r>
            <a:r>
              <a:rPr lang="en-US" sz="2000" b="1" dirty="0">
                <a:latin typeface="Times New Roman" panose="02020603050405020304" pitchFamily="18" charset="0"/>
                <a:cs typeface="Times New Roman" panose="02020603050405020304" pitchFamily="18" charset="0"/>
              </a:rPr>
              <a:t>accuracy and reliability</a:t>
            </a:r>
            <a:r>
              <a:rPr lang="en-US" sz="2000" dirty="0">
                <a:latin typeface="Times New Roman" panose="02020603050405020304" pitchFamily="18" charset="0"/>
                <a:cs typeface="Times New Roman" panose="02020603050405020304" pitchFamily="18" charset="0"/>
              </a:rPr>
              <a:t> of AI models are critical for patient outcomes.</a:t>
            </a:r>
          </a:p>
          <a:p>
            <a:r>
              <a:rPr lang="en-US" sz="2000" dirty="0">
                <a:latin typeface="Times New Roman" panose="02020603050405020304" pitchFamily="18" charset="0"/>
                <a:cs typeface="Times New Roman" panose="02020603050405020304" pitchFamily="18" charset="0"/>
              </a:rPr>
              <a:t>The proposed framework is designed to:</a:t>
            </a:r>
          </a:p>
          <a:p>
            <a:pPr marL="342900" lvl="2"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Automate the search</a:t>
            </a:r>
            <a:r>
              <a:rPr lang="en-US" sz="2000" dirty="0">
                <a:latin typeface="Times New Roman" panose="02020603050405020304" pitchFamily="18" charset="0"/>
                <a:cs typeface="Times New Roman" panose="02020603050405020304" pitchFamily="18" charset="0"/>
              </a:rPr>
              <a:t> for optimal neural network architectures.</a:t>
            </a:r>
          </a:p>
          <a:p>
            <a:pPr marL="342900" lvl="2"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Generalize beyond CNNs</a:t>
            </a:r>
            <a:r>
              <a:rPr lang="en-US" sz="2000" dirty="0">
                <a:latin typeface="Times New Roman" panose="02020603050405020304" pitchFamily="18" charset="0"/>
                <a:cs typeface="Times New Roman" panose="02020603050405020304" pitchFamily="18" charset="0"/>
              </a:rPr>
              <a:t> to include RNNs, LSTMs, and other paradigms.</a:t>
            </a:r>
          </a:p>
          <a:p>
            <a:pPr marL="342900" lvl="2"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Validate performance</a:t>
            </a:r>
            <a:r>
              <a:rPr lang="en-US" sz="2000" dirty="0">
                <a:latin typeface="Times New Roman" panose="02020603050405020304" pitchFamily="18" charset="0"/>
                <a:cs typeface="Times New Roman" panose="02020603050405020304" pitchFamily="18" charset="0"/>
              </a:rPr>
              <a:t> on diverse medical imaging datasets to ensure robustness and scalability.</a:t>
            </a:r>
          </a:p>
          <a:p>
            <a:r>
              <a:rPr lang="en-US" sz="2000" dirty="0">
                <a:latin typeface="Times New Roman" panose="02020603050405020304" pitchFamily="18" charset="0"/>
                <a:cs typeface="Times New Roman" panose="02020603050405020304" pitchFamily="18" charset="0"/>
              </a:rPr>
              <a:t>This research builds on existing work in neural architecture search (NAS) and swarm intelligence, aiming to bridge the gap between </a:t>
            </a:r>
            <a:r>
              <a:rPr lang="en-US" sz="2000" b="1" dirty="0">
                <a:latin typeface="Times New Roman" panose="02020603050405020304" pitchFamily="18" charset="0"/>
                <a:cs typeface="Times New Roman" panose="02020603050405020304" pitchFamily="18" charset="0"/>
              </a:rPr>
              <a:t>theoretical optimization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practical application</a:t>
            </a:r>
            <a:r>
              <a:rPr lang="en-US" sz="2000" dirty="0">
                <a:latin typeface="Times New Roman" panose="02020603050405020304" pitchFamily="18" charset="0"/>
                <a:cs typeface="Times New Roman" panose="02020603050405020304" pitchFamily="18" charset="0"/>
              </a:rPr>
              <a:t> in healthcare.</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4" name="Rectangle 2">
            <a:extLst>
              <a:ext uri="{FF2B5EF4-FFF2-40B4-BE49-F238E27FC236}">
                <a16:creationId xmlns:a16="http://schemas.microsoft.com/office/drawing/2014/main" id="{67AEB95F-8FDA-154B-B152-4829CD9B516B}"/>
              </a:ext>
            </a:extLst>
          </p:cNvPr>
          <p:cNvSpPr>
            <a:spLocks noChangeArrowheads="1"/>
          </p:cNvSpPr>
          <p:nvPr/>
        </p:nvSpPr>
        <p:spPr bwMode="auto">
          <a:xfrm>
            <a:off x="4547392" y="687070"/>
            <a:ext cx="30972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b="1" dirty="0">
                <a:latin typeface="Times New Roman" panose="02020603050405020304" pitchFamily="18" charset="0"/>
                <a:ea typeface="Calibri" panose="020F0502020204030204" pitchFamily="34" charset="0"/>
                <a:cs typeface="Times New Roman" panose="02020603050405020304" pitchFamily="18" charset="0"/>
              </a:rPr>
              <a:t>Table 1: Literature Survey</a:t>
            </a:r>
            <a:endParaRPr lang="en-US" altLang="en-US" sz="11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Rectangle 4">
            <a:extLst>
              <a:ext uri="{FF2B5EF4-FFF2-40B4-BE49-F238E27FC236}">
                <a16:creationId xmlns:a16="http://schemas.microsoft.com/office/drawing/2014/main" id="{C6D326DB-6C54-EF56-48F3-210543C76EE5}"/>
              </a:ext>
            </a:extLst>
          </p:cNvPr>
          <p:cNvSpPr>
            <a:spLocks noChangeArrowheads="1"/>
          </p:cNvSpPr>
          <p:nvPr/>
        </p:nvSpPr>
        <p:spPr bwMode="auto">
          <a:xfrm>
            <a:off x="127953" y="150179"/>
            <a:ext cx="4118435"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Literature Survey</a:t>
            </a:r>
          </a:p>
        </p:txBody>
      </p:sp>
      <p:graphicFrame>
        <p:nvGraphicFramePr>
          <p:cNvPr id="3" name="Table 2">
            <a:extLst>
              <a:ext uri="{FF2B5EF4-FFF2-40B4-BE49-F238E27FC236}">
                <a16:creationId xmlns:a16="http://schemas.microsoft.com/office/drawing/2014/main" id="{A1079F33-FA8B-9A32-EFA1-CA13A4C00E89}"/>
              </a:ext>
            </a:extLst>
          </p:cNvPr>
          <p:cNvGraphicFramePr>
            <a:graphicFrameLocks noGrp="1"/>
          </p:cNvGraphicFramePr>
          <p:nvPr>
            <p:extLst>
              <p:ext uri="{D42A27DB-BD31-4B8C-83A1-F6EECF244321}">
                <p14:modId xmlns:p14="http://schemas.microsoft.com/office/powerpoint/2010/main" val="445550243"/>
              </p:ext>
            </p:extLst>
          </p:nvPr>
        </p:nvGraphicFramePr>
        <p:xfrm>
          <a:off x="640078" y="1165489"/>
          <a:ext cx="10911840" cy="7785126"/>
        </p:xfrm>
        <a:graphic>
          <a:graphicData uri="http://schemas.openxmlformats.org/drawingml/2006/table">
            <a:tbl>
              <a:tblPr firstRow="1" bandRow="1">
                <a:tableStyleId>{2D5ABB26-0587-4C30-8999-92F81FD0307C}</a:tableStyleId>
              </a:tblPr>
              <a:tblGrid>
                <a:gridCol w="772161">
                  <a:extLst>
                    <a:ext uri="{9D8B030D-6E8A-4147-A177-3AD203B41FA5}">
                      <a16:colId xmlns:a16="http://schemas.microsoft.com/office/drawing/2014/main" val="3430249070"/>
                    </a:ext>
                  </a:extLst>
                </a:gridCol>
                <a:gridCol w="3592575">
                  <a:extLst>
                    <a:ext uri="{9D8B030D-6E8A-4147-A177-3AD203B41FA5}">
                      <a16:colId xmlns:a16="http://schemas.microsoft.com/office/drawing/2014/main" val="4025391227"/>
                    </a:ext>
                  </a:extLst>
                </a:gridCol>
                <a:gridCol w="2452625">
                  <a:extLst>
                    <a:ext uri="{9D8B030D-6E8A-4147-A177-3AD203B41FA5}">
                      <a16:colId xmlns:a16="http://schemas.microsoft.com/office/drawing/2014/main" val="1809246298"/>
                    </a:ext>
                  </a:extLst>
                </a:gridCol>
                <a:gridCol w="1912111">
                  <a:extLst>
                    <a:ext uri="{9D8B030D-6E8A-4147-A177-3AD203B41FA5}">
                      <a16:colId xmlns:a16="http://schemas.microsoft.com/office/drawing/2014/main" val="2979722634"/>
                    </a:ext>
                  </a:extLst>
                </a:gridCol>
                <a:gridCol w="2182368">
                  <a:extLst>
                    <a:ext uri="{9D8B030D-6E8A-4147-A177-3AD203B41FA5}">
                      <a16:colId xmlns:a16="http://schemas.microsoft.com/office/drawing/2014/main" val="717658281"/>
                    </a:ext>
                  </a:extLst>
                </a:gridCol>
              </a:tblGrid>
              <a:tr h="512030">
                <a:tc>
                  <a:txBody>
                    <a:bodyPr/>
                    <a:lstStyle/>
                    <a:p>
                      <a:pPr algn="ctr"/>
                      <a:r>
                        <a:rPr lang="en-IN" sz="1600" dirty="0">
                          <a:solidFill>
                            <a:srgbClr val="F4E4C9"/>
                          </a:solidFill>
                          <a:latin typeface="Times New Roman" panose="02020603050405020304" pitchFamily="18" charset="0"/>
                          <a:cs typeface="Times New Roman" panose="02020603050405020304" pitchFamily="18" charset="0"/>
                        </a:rPr>
                        <a:t>S. NO.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B64"/>
                    </a:solidFill>
                  </a:tcPr>
                </a:tc>
                <a:tc>
                  <a:txBody>
                    <a:bodyPr/>
                    <a:lstStyle/>
                    <a:p>
                      <a:pPr algn="ctr"/>
                      <a:r>
                        <a:rPr lang="en-IN" sz="1600" dirty="0">
                          <a:solidFill>
                            <a:srgbClr val="F4E4C9"/>
                          </a:solidFill>
                          <a:latin typeface="Times New Roman" panose="02020603050405020304" pitchFamily="18" charset="0"/>
                          <a:cs typeface="Times New Roman" panose="02020603050405020304" pitchFamily="18" charset="0"/>
                        </a:rPr>
                        <a:t>PAPER DETAILS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B64"/>
                    </a:solidFill>
                  </a:tcPr>
                </a:tc>
                <a:tc>
                  <a:txBody>
                    <a:bodyPr/>
                    <a:lstStyle/>
                    <a:p>
                      <a:pPr algn="ctr"/>
                      <a:r>
                        <a:rPr lang="en-IN" sz="1600" i="0" dirty="0">
                          <a:solidFill>
                            <a:srgbClr val="F4E4C9"/>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B64"/>
                    </a:solidFill>
                  </a:tcPr>
                </a:tc>
                <a:tc>
                  <a:txBody>
                    <a:bodyPr/>
                    <a:lstStyle/>
                    <a:p>
                      <a:pPr algn="ctr"/>
                      <a:r>
                        <a:rPr lang="en-IN" sz="1600" i="0" dirty="0">
                          <a:solidFill>
                            <a:srgbClr val="F4E4C9"/>
                          </a:solidFill>
                          <a:latin typeface="Times New Roman" panose="02020603050405020304" pitchFamily="18" charset="0"/>
                          <a:cs typeface="Times New Roman" panose="02020603050405020304" pitchFamily="18" charset="0"/>
                        </a:rPr>
                        <a:t>TECHNIQUES/ ALGORITHMS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B64"/>
                    </a:solidFill>
                  </a:tcPr>
                </a:tc>
                <a:tc>
                  <a:txBody>
                    <a:bodyPr/>
                    <a:lstStyle/>
                    <a:p>
                      <a:pPr algn="ctr"/>
                      <a:r>
                        <a:rPr lang="en-IN" sz="1600" dirty="0">
                          <a:solidFill>
                            <a:srgbClr val="F4E4C9"/>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B64"/>
                    </a:solidFill>
                  </a:tcPr>
                </a:tc>
                <a:extLst>
                  <a:ext uri="{0D108BD9-81ED-4DB2-BD59-A6C34878D82A}">
                    <a16:rowId xmlns:a16="http://schemas.microsoft.com/office/drawing/2014/main" val="1793533924"/>
                  </a:ext>
                </a:extLst>
              </a:tr>
              <a:tr h="783603">
                <a:tc>
                  <a:txBody>
                    <a:bodyPr/>
                    <a:lstStyle/>
                    <a:p>
                      <a:r>
                        <a:rPr lang="en-IN" dirty="0"/>
                        <a:t>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Title</a:t>
                      </a:r>
                      <a:r>
                        <a:rPr lang="en-US" dirty="0"/>
                        <a:t>: Optimizing Brain Tumor Segmentation with </a:t>
                      </a:r>
                      <a:r>
                        <a:rPr lang="en-US" dirty="0" err="1"/>
                        <a:t>MedNeXt</a:t>
                      </a:r>
                      <a:r>
                        <a:rPr lang="en-US" dirty="0"/>
                        <a:t>: </a:t>
                      </a:r>
                      <a:r>
                        <a:rPr lang="en-US" dirty="0" err="1"/>
                        <a:t>BraTS</a:t>
                      </a:r>
                      <a:r>
                        <a:rPr lang="en-US" dirty="0"/>
                        <a:t> 2024 SSA and Pediatrics (</a:t>
                      </a:r>
                      <a:r>
                        <a:rPr lang="en-US" dirty="0">
                          <a:hlinkClick r:id="rId2"/>
                        </a:rPr>
                        <a:t>https://arxiv.org/abs/2411.15872</a:t>
                      </a:r>
                      <a:r>
                        <a:rPr lang="en-US" dirty="0"/>
                        <a:t>)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i="1" dirty="0" err="1"/>
                        <a:t>MedNeXt</a:t>
                      </a:r>
                      <a:r>
                        <a:rPr lang="en-US" i="1" dirty="0"/>
                        <a:t>-based pipeline segments brain tumors in </a:t>
                      </a:r>
                      <a:r>
                        <a:rPr lang="en-US" b="1" i="1" dirty="0" err="1"/>
                        <a:t>BraTS</a:t>
                      </a:r>
                      <a:r>
                        <a:rPr lang="en-US" b="1" i="1" dirty="0"/>
                        <a:t> 2024 SSA/Pediatrics</a:t>
                      </a:r>
                      <a:r>
                        <a:rPr lang="en-US" i="1" dirty="0"/>
                        <a:t>, achieving </a:t>
                      </a:r>
                      <a:r>
                        <a:rPr lang="en-US" b="1" i="1" dirty="0"/>
                        <a:t>Dice scores of 0.896/0.830</a:t>
                      </a:r>
                      <a:r>
                        <a:rPr lang="en-US" i="1" dirty="0"/>
                        <a:t> using </a:t>
                      </a:r>
                      <a:r>
                        <a:rPr lang="en-US" i="1" dirty="0" err="1"/>
                        <a:t>ensembling</a:t>
                      </a:r>
                      <a:r>
                        <a:rPr lang="en-US" i="1" dirty="0"/>
                        <a:t> and fine-tuning techniques.</a:t>
                      </a:r>
                      <a:endParaRPr lang="en-IN"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i="1" dirty="0" err="1"/>
                        <a:t>MedNeXt</a:t>
                      </a:r>
                      <a:r>
                        <a:rPr lang="en-IN" b="1" i="1" dirty="0"/>
                        <a:t>, U-Net, </a:t>
                      </a:r>
                      <a:r>
                        <a:rPr lang="en-IN" b="1" i="1" dirty="0" err="1"/>
                        <a:t>ensembling</a:t>
                      </a:r>
                      <a:r>
                        <a:rPr lang="en-IN" b="1" i="1" dirty="0"/>
                        <a:t>, 5-fold cross-validation, fine-tuning, sliding window inference, thresholding, data augmentation.</a:t>
                      </a:r>
                      <a:endParaRPr lang="en-IN"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Models struggle with </a:t>
                      </a:r>
                      <a:r>
                        <a:rPr lang="en-US" b="1" dirty="0"/>
                        <a:t>diverse MRI data quality</a:t>
                      </a:r>
                      <a:r>
                        <a:rPr lang="en-US" dirty="0"/>
                        <a:t> and </a:t>
                      </a:r>
                      <a:r>
                        <a:rPr lang="en-US" b="1" dirty="0"/>
                        <a:t>generalization</a:t>
                      </a:r>
                      <a:r>
                        <a:rPr lang="en-US" dirty="0"/>
                        <a:t> across populations, especially in </a:t>
                      </a:r>
                      <a:r>
                        <a:rPr lang="en-US" b="1" dirty="0"/>
                        <a:t>low-resource and pediatric</a:t>
                      </a:r>
                      <a:r>
                        <a:rPr lang="en-US" dirty="0"/>
                        <a:t> settings.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2448984"/>
                  </a:ext>
                </a:extLst>
              </a:tr>
              <a:tr h="783603">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Title</a:t>
                      </a:r>
                      <a:r>
                        <a:rPr lang="en-US" dirty="0"/>
                        <a:t>: Rethinking Brain Tumor Segmentation from the Frequency Domain Perspective</a:t>
                      </a:r>
                    </a:p>
                    <a:p>
                      <a:r>
                        <a:rPr lang="en-US" dirty="0"/>
                        <a:t>(</a:t>
                      </a:r>
                      <a:r>
                        <a:rPr lang="en-US" dirty="0">
                          <a:hlinkClick r:id="rId3"/>
                        </a:rPr>
                        <a:t>https://pubmed.ncbi.nlm.nih.gov/40504718/</a:t>
                      </a:r>
                      <a:r>
                        <a:rPr lang="en-US" dirty="0"/>
                        <a:t>) </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i="1" dirty="0">
                          <a:effectLst/>
                        </a:rPr>
                        <a:t>HFF-Net improves brain tumor segmentation</a:t>
                      </a:r>
                      <a:r>
                        <a:rPr lang="en-US" i="1" dirty="0"/>
                        <a:t> by fusing </a:t>
                      </a:r>
                      <a:r>
                        <a:rPr lang="en-US" b="1" i="1" dirty="0"/>
                        <a:t>low/high-frequency MRI features</a:t>
                      </a:r>
                      <a:r>
                        <a:rPr lang="en-US" i="1" dirty="0"/>
                        <a:t> using </a:t>
                      </a:r>
                      <a:r>
                        <a:rPr lang="en-US" b="1" i="1" dirty="0"/>
                        <a:t>wavelet/contourlet transforms</a:t>
                      </a:r>
                      <a:r>
                        <a:rPr lang="en-US" i="1" dirty="0"/>
                        <a:t> and </a:t>
                      </a:r>
                      <a:r>
                        <a:rPr lang="en-US" b="1" i="1" dirty="0"/>
                        <a:t>attention mechanisms</a:t>
                      </a:r>
                      <a:r>
                        <a:rPr lang="en-US" i="1" dirty="0"/>
                        <a:t>, outperforming spatial-only 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i="1" dirty="0">
                          <a:effectLst/>
                        </a:rPr>
                        <a:t>DTCWT, NSCT, Frequency Domain Cross-Attention (FDCA)</a:t>
                      </a:r>
                      <a:r>
                        <a:rPr lang="en-IN" b="1" i="1" dirty="0"/>
                        <a:t>, </a:t>
                      </a:r>
                      <a:r>
                        <a:rPr lang="en-IN" b="1" i="1" dirty="0">
                          <a:effectLst/>
                        </a:rPr>
                        <a:t>3D Dynamic Focal Loss</a:t>
                      </a:r>
                      <a:r>
                        <a:rPr lang="en-IN" b="1" i="1" dirty="0"/>
                        <a:t>, Dual-Branch Network, </a:t>
                      </a:r>
                      <a:r>
                        <a:rPr lang="en-IN" b="1" i="1" dirty="0">
                          <a:effectLst/>
                        </a:rPr>
                        <a:t>Fisher Information Matrix</a:t>
                      </a:r>
                      <a:r>
                        <a:rPr lang="en-IN" b="1" i="1" dirty="0"/>
                        <a:t>.</a:t>
                      </a:r>
                      <a:endParaRPr lang="en-IN"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Existing methods </a:t>
                      </a:r>
                      <a:r>
                        <a:rPr lang="en-US" b="1" dirty="0"/>
                        <a:t>ignore frequency-domain features</a:t>
                      </a:r>
                      <a:r>
                        <a:rPr lang="en-US" dirty="0"/>
                        <a:t>, leading to </a:t>
                      </a:r>
                      <a:r>
                        <a:rPr lang="en-US" b="1" dirty="0">
                          <a:effectLst/>
                        </a:rPr>
                        <a:t>poor contrast-enhancing tumor boundary segmentation</a:t>
                      </a:r>
                      <a:r>
                        <a:rPr lang="en-US" dirty="0"/>
                        <a:t> and </a:t>
                      </a:r>
                      <a:r>
                        <a:rPr lang="en-US" b="1" dirty="0">
                          <a:effectLst/>
                        </a:rPr>
                        <a:t>limited directional texture sensitivity</a:t>
                      </a:r>
                      <a:r>
                        <a:rPr lang="en-US" dirty="0"/>
                        <a:t> in MRI analysis.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186483"/>
                  </a:ext>
                </a:extLst>
              </a:tr>
              <a:tr h="783603">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Title</a:t>
                      </a:r>
                      <a:r>
                        <a:rPr lang="en-US" dirty="0"/>
                        <a:t>: Design of an Optimal Convolutional Neural Network Architecture for MRI Brain Tumor Classification by Exploiting Particle Swarm Optimization</a:t>
                      </a:r>
                    </a:p>
                    <a:p>
                      <a:r>
                        <a:rPr lang="en-US" dirty="0"/>
                        <a:t>(</a:t>
                      </a:r>
                      <a:r>
                        <a:rPr lang="en-US" dirty="0">
                          <a:hlinkClick r:id="rId4"/>
                        </a:rPr>
                        <a:t>https://pubmed.ncbi.nlm.nih.gov/39997533/</a:t>
                      </a:r>
                      <a:r>
                        <a:rPr lang="en-US" dirty="0"/>
                        <a:t>)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i="1" dirty="0"/>
                        <a:t>PSO optimizes CNN architectures for </a:t>
                      </a:r>
                      <a:r>
                        <a:rPr lang="en-IN" i="1" dirty="0">
                          <a:effectLst/>
                        </a:rPr>
                        <a:t>MRI brain </a:t>
                      </a:r>
                      <a:r>
                        <a:rPr lang="en-IN" i="1" dirty="0" err="1">
                          <a:effectLst/>
                        </a:rPr>
                        <a:t>tumor</a:t>
                      </a:r>
                      <a:r>
                        <a:rPr lang="en-IN" i="1" dirty="0">
                          <a:effectLst/>
                        </a:rPr>
                        <a:t> classification</a:t>
                      </a:r>
                      <a:r>
                        <a:rPr lang="en-IN" i="1" dirty="0"/>
                        <a:t>, achieving </a:t>
                      </a:r>
                      <a:r>
                        <a:rPr lang="en-IN" i="1" dirty="0">
                          <a:effectLst/>
                        </a:rPr>
                        <a:t>99.19% accuracy</a:t>
                      </a:r>
                      <a:r>
                        <a:rPr lang="en-IN" i="1" dirty="0"/>
                        <a:t> through automated neural network design and </a:t>
                      </a:r>
                      <a:r>
                        <a:rPr lang="en-IN" i="1" dirty="0">
                          <a:effectLst/>
                        </a:rPr>
                        <a:t>hyperparameter tuning</a:t>
                      </a:r>
                      <a:r>
                        <a:rPr lang="en-IN" i="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i="1" dirty="0"/>
                        <a:t>PSO, CNN, incremental training, fitness evaluation, particle-based encoding, swarm initialization, and </a:t>
                      </a:r>
                      <a:r>
                        <a:rPr lang="en-US" i="1" dirty="0">
                          <a:effectLst/>
                        </a:rPr>
                        <a:t>adaptive architecture search</a:t>
                      </a:r>
                      <a:r>
                        <a:rPr lang="en-US" i="1" dirty="0"/>
                        <a:t> techniques.</a:t>
                      </a:r>
                      <a:endParaRPr lang="en-IN"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i="1" dirty="0"/>
                        <a:t>Limited exploration of hyperparameters, lack of generalization beyond CNNs, and dependence on predefined architectural constraints for optimization.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571271"/>
                  </a:ext>
                </a:extLst>
              </a:tr>
              <a:tr h="783603">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i="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i="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62436"/>
                  </a:ext>
                </a:extLst>
              </a:tr>
              <a:tr h="783603">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6690010"/>
                  </a:ext>
                </a:extLst>
              </a:tr>
            </a:tbl>
          </a:graphicData>
        </a:graphic>
      </p:graphicFrame>
    </p:spTree>
  </p:cSld>
  <p:clrMapOvr>
    <a:overrideClrMapping bg1="lt1" tx1="dk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itle 1">
            <a:extLst>
              <a:ext uri="{FF2B5EF4-FFF2-40B4-BE49-F238E27FC236}">
                <a16:creationId xmlns:a16="http://schemas.microsoft.com/office/drawing/2014/main" id="{9F9E8F52-8D45-B9B7-80DA-F6757919FB21}"/>
              </a:ext>
            </a:extLst>
          </p:cNvPr>
          <p:cNvSpPr>
            <a:spLocks noGrp="1"/>
          </p:cNvSpPr>
          <p:nvPr>
            <p:ph type="title" idx="4294967295"/>
          </p:nvPr>
        </p:nvSpPr>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 </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C6D326DB-6C54-EF56-48F3-210543C76EE5}"/>
              </a:ext>
            </a:extLst>
          </p:cNvPr>
          <p:cNvSpPr>
            <a:spLocks noChangeArrowheads="1"/>
          </p:cNvSpPr>
          <p:nvPr/>
        </p:nvSpPr>
        <p:spPr bwMode="auto">
          <a:xfrm>
            <a:off x="101600" y="132080"/>
            <a:ext cx="4549643"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Problem Statement</a:t>
            </a:r>
          </a:p>
        </p:txBody>
      </p:sp>
      <p:sp>
        <p:nvSpPr>
          <p:cNvPr id="3" name="TextBox 2">
            <a:extLst>
              <a:ext uri="{FF2B5EF4-FFF2-40B4-BE49-F238E27FC236}">
                <a16:creationId xmlns:a16="http://schemas.microsoft.com/office/drawing/2014/main" id="{942F9A70-9C35-2B34-D8D6-6B6954F43232}"/>
              </a:ext>
            </a:extLst>
          </p:cNvPr>
          <p:cNvSpPr txBox="1"/>
          <p:nvPr/>
        </p:nvSpPr>
        <p:spPr>
          <a:xfrm>
            <a:off x="254000" y="1005840"/>
            <a:ext cx="11826240" cy="624786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design of optimal neural network architectures for medical imaging tasks, such as MRI-based brain tumor classification, remains a </a:t>
            </a:r>
            <a:r>
              <a:rPr lang="en-US" sz="2000" b="1" dirty="0">
                <a:latin typeface="Times New Roman" panose="02020603050405020304" pitchFamily="18" charset="0"/>
                <a:cs typeface="Times New Roman" panose="02020603050405020304" pitchFamily="18" charset="0"/>
              </a:rPr>
              <a:t>critical yet challenging</a:t>
            </a:r>
            <a:r>
              <a:rPr lang="en-US" sz="2000" dirty="0">
                <a:latin typeface="Times New Roman" panose="02020603050405020304" pitchFamily="18" charset="0"/>
                <a:cs typeface="Times New Roman" panose="02020603050405020304" pitchFamily="18" charset="0"/>
              </a:rPr>
              <a:t> process. Traditional methods for neural architecture search (NAS) often rely on </a:t>
            </a:r>
            <a:r>
              <a:rPr lang="en-US" sz="2000" b="1" dirty="0">
                <a:latin typeface="Times New Roman" panose="02020603050405020304" pitchFamily="18" charset="0"/>
                <a:cs typeface="Times New Roman" panose="02020603050405020304" pitchFamily="18" charset="0"/>
              </a:rPr>
              <a:t>manual tuning</a:t>
            </a:r>
            <a:r>
              <a:rPr lang="en-US" sz="2000" dirty="0">
                <a:latin typeface="Times New Roman" panose="02020603050405020304" pitchFamily="18" charset="0"/>
                <a:cs typeface="Times New Roman" panose="02020603050405020304" pitchFamily="18" charset="0"/>
              </a:rPr>
              <a:t> or single-algorithm optimization techniques like Particle Swarm Optimization (PSO). While PSO is effective at </a:t>
            </a:r>
            <a:r>
              <a:rPr lang="en-US" sz="2000" b="1" dirty="0">
                <a:latin typeface="Times New Roman" panose="02020603050405020304" pitchFamily="18" charset="0"/>
                <a:cs typeface="Times New Roman" panose="02020603050405020304" pitchFamily="18" charset="0"/>
              </a:rPr>
              <a:t>rapidly exploring</a:t>
            </a:r>
            <a:r>
              <a:rPr lang="en-US" sz="2000" dirty="0">
                <a:latin typeface="Times New Roman" panose="02020603050405020304" pitchFamily="18" charset="0"/>
                <a:cs typeface="Times New Roman" panose="02020603050405020304" pitchFamily="18" charset="0"/>
              </a:rPr>
              <a:t> the search space to identify promising architectures, it suffers from </a:t>
            </a:r>
            <a:r>
              <a:rPr lang="en-US" sz="2000" b="1" dirty="0">
                <a:latin typeface="Times New Roman" panose="02020603050405020304" pitchFamily="18" charset="0"/>
                <a:cs typeface="Times New Roman" panose="02020603050405020304" pitchFamily="18" charset="0"/>
              </a:rPr>
              <a:t>premature convergence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dependence on predefined hyperparameter ranges</a:t>
            </a:r>
            <a:r>
              <a:rPr lang="en-US" sz="2000" dirty="0">
                <a:latin typeface="Times New Roman" panose="02020603050405020304" pitchFamily="18" charset="0"/>
                <a:cs typeface="Times New Roman" panose="02020603050405020304" pitchFamily="18" charset="0"/>
              </a:rPr>
              <a:t>, which can restrict the exploration of alternative solutions. For example, if the initial hyperparameter ranges limit the number of convolutional layers to a maximum of five, PSO may never discover that an architecture with six or seven layers could achieve higher accuracy. Additionally, PSO’s tendency to converge quickly to local optima can result in </a:t>
            </a:r>
            <a:r>
              <a:rPr lang="en-US" sz="2000" b="1" dirty="0">
                <a:latin typeface="Times New Roman" panose="02020603050405020304" pitchFamily="18" charset="0"/>
                <a:cs typeface="Times New Roman" panose="02020603050405020304" pitchFamily="18" charset="0"/>
              </a:rPr>
              <a:t>suboptimal architectures</a:t>
            </a:r>
            <a:r>
              <a:rPr lang="en-US" sz="2000" dirty="0">
                <a:latin typeface="Times New Roman" panose="02020603050405020304" pitchFamily="18" charset="0"/>
                <a:cs typeface="Times New Roman" panose="02020603050405020304" pitchFamily="18" charset="0"/>
              </a:rPr>
              <a:t>, missing potentially better solutions that lie outside the explored regions.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Furthermore, existing NAS frameworks are often </a:t>
            </a:r>
            <a:r>
              <a:rPr lang="en-US" sz="2000" b="1" dirty="0">
                <a:latin typeface="Times New Roman" panose="02020603050405020304" pitchFamily="18" charset="0"/>
                <a:cs typeface="Times New Roman" panose="02020603050405020304" pitchFamily="18" charset="0"/>
              </a:rPr>
              <a:t>highly specialized</a:t>
            </a:r>
            <a:r>
              <a:rPr lang="en-US" sz="2000" dirty="0">
                <a:latin typeface="Times New Roman" panose="02020603050405020304" pitchFamily="18" charset="0"/>
                <a:cs typeface="Times New Roman" panose="02020603050405020304" pitchFamily="18" charset="0"/>
              </a:rPr>
              <a:t> for specific tasks or neural network types, such as Convolutional Neural Networks (CNNs) for image classification. This specialization limits their </a:t>
            </a:r>
            <a:r>
              <a:rPr lang="en-US" sz="2000" b="1" dirty="0">
                <a:latin typeface="Times New Roman" panose="02020603050405020304" pitchFamily="18" charset="0"/>
                <a:cs typeface="Times New Roman" panose="02020603050405020304" pitchFamily="18" charset="0"/>
              </a:rPr>
              <a:t>generalizability</a:t>
            </a:r>
            <a:r>
              <a:rPr lang="en-US" sz="2000" dirty="0">
                <a:latin typeface="Times New Roman" panose="02020603050405020304" pitchFamily="18" charset="0"/>
                <a:cs typeface="Times New Roman" panose="02020603050405020304" pitchFamily="18" charset="0"/>
              </a:rPr>
              <a:t> to other neural network paradigms, such as Recurrent Neural Networks (RNNs) or Long Short-Term Memory (LSTM) networks, which are essential for tasks involving time-series data like ECG or patient monitoring signals. The lack of a </a:t>
            </a:r>
            <a:r>
              <a:rPr lang="en-US" sz="2000" b="1" dirty="0">
                <a:latin typeface="Times New Roman" panose="02020603050405020304" pitchFamily="18" charset="0"/>
                <a:cs typeface="Times New Roman" panose="02020603050405020304" pitchFamily="18" charset="0"/>
              </a:rPr>
              <a:t>unified, adaptable framework</a:t>
            </a:r>
            <a:r>
              <a:rPr lang="en-US" sz="2000" dirty="0">
                <a:latin typeface="Times New Roman" panose="02020603050405020304" pitchFamily="18" charset="0"/>
                <a:cs typeface="Times New Roman" panose="02020603050405020304" pitchFamily="18" charset="0"/>
              </a:rPr>
              <a:t> that can optimize architectures across diverse tasks and network types creates a significant gap in the field. Manual tuning of neural networks, while sometimes effective, is </a:t>
            </a:r>
            <a:r>
              <a:rPr lang="en-US" sz="2000" b="1" dirty="0">
                <a:latin typeface="Times New Roman" panose="02020603050405020304" pitchFamily="18" charset="0"/>
                <a:cs typeface="Times New Roman" panose="02020603050405020304" pitchFamily="18" charset="0"/>
              </a:rPr>
              <a:t>time-consuming, subjective, and prone to human bias</a:t>
            </a:r>
            <a:r>
              <a:rPr lang="en-US" sz="2000" dirty="0">
                <a:latin typeface="Times New Roman" panose="02020603050405020304" pitchFamily="18" charset="0"/>
                <a:cs typeface="Times New Roman" panose="02020603050405020304" pitchFamily="18" charset="0"/>
              </a:rPr>
              <a:t>, making it unsuitable for large-scale or complex applications. Addressing these challenges requires a </a:t>
            </a:r>
            <a:r>
              <a:rPr lang="en-US" sz="2000" b="1" dirty="0">
                <a:latin typeface="Times New Roman" panose="02020603050405020304" pitchFamily="18" charset="0"/>
                <a:cs typeface="Times New Roman" panose="02020603050405020304" pitchFamily="18" charset="0"/>
              </a:rPr>
              <a:t>hybrid, automated approach</a:t>
            </a:r>
            <a:r>
              <a:rPr lang="en-US" sz="2000" dirty="0">
                <a:latin typeface="Times New Roman" panose="02020603050405020304" pitchFamily="18" charset="0"/>
                <a:cs typeface="Times New Roman" panose="02020603050405020304" pitchFamily="18" charset="0"/>
              </a:rPr>
              <a:t> that combines the strengths of multiple optimization techniques to create a more robust and generalizable NAS framework.</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C6D326DB-6C54-EF56-48F3-210543C76EE5}"/>
              </a:ext>
            </a:extLst>
          </p:cNvPr>
          <p:cNvSpPr>
            <a:spLocks noGrp="1" noChangeArrowheads="1"/>
          </p:cNvSpPr>
          <p:nvPr>
            <p:ph type="title" idx="4294967295"/>
          </p:nvPr>
        </p:nvSpPr>
        <p:spPr bwMode="auto">
          <a:xfrm>
            <a:off x="294640" y="304800"/>
            <a:ext cx="2621230"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Objectives</a:t>
            </a:r>
          </a:p>
        </p:txBody>
      </p:sp>
      <p:sp>
        <p:nvSpPr>
          <p:cNvPr id="2" name="TextBox 1">
            <a:extLst>
              <a:ext uri="{FF2B5EF4-FFF2-40B4-BE49-F238E27FC236}">
                <a16:creationId xmlns:a16="http://schemas.microsoft.com/office/drawing/2014/main" id="{A182EA86-7000-59F2-BBD9-1C5366149035}"/>
              </a:ext>
            </a:extLst>
          </p:cNvPr>
          <p:cNvSpPr txBox="1"/>
          <p:nvPr/>
        </p:nvSpPr>
        <p:spPr>
          <a:xfrm>
            <a:off x="548640" y="1219200"/>
            <a:ext cx="11267440" cy="4708981"/>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The main objectives of this project are:</a:t>
            </a:r>
          </a:p>
          <a:p>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study the working principles of Particle Swarm Optimization (PSO) and Genetic Algorithm (GA) individually.</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identify the limitations of PSO, particularly its tendency to converge prematurely.</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design a hybrid PSO-GA algorithm that integrates genetic operators (selection, crossover, and mutation) into the PSO framework at regular intervals.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improve the exploration capability of PSO by using GA to maintain population diversity and escape local optima.</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evaluate the performance of the hybrid model against standard PSO using simple benchmark optimization functions (e.g., Sphere, </a:t>
            </a:r>
            <a:r>
              <a:rPr lang="en-US" sz="2000" dirty="0" err="1">
                <a:latin typeface="Times New Roman" panose="02020603050405020304" pitchFamily="18" charset="0"/>
                <a:cs typeface="Times New Roman" panose="02020603050405020304" pitchFamily="18" charset="0"/>
              </a:rPr>
              <a:t>Rastrigin</a:t>
            </a:r>
            <a:r>
              <a:rPr lang="en-US" sz="2000" dirty="0">
                <a:latin typeface="Times New Roman" panose="02020603050405020304" pitchFamily="18" charset="0"/>
                <a:cs typeface="Times New Roman" panose="02020603050405020304" pitchFamily="18" charset="0"/>
              </a:rPr>
              <a:t>, or Rosenbrock).</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demonstrate that the hybrid approach achieves better solution accuracy and robustness compared to standalone PSO.</a:t>
            </a:r>
          </a:p>
          <a:p>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C6D326DB-6C54-EF56-48F3-210543C76EE5}"/>
              </a:ext>
            </a:extLst>
          </p:cNvPr>
          <p:cNvSpPr>
            <a:spLocks noChangeArrowheads="1"/>
          </p:cNvSpPr>
          <p:nvPr/>
        </p:nvSpPr>
        <p:spPr bwMode="auto">
          <a:xfrm>
            <a:off x="219919" y="178988"/>
            <a:ext cx="8105104"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Work Breakdown &amp; Task Allocation</a:t>
            </a:r>
          </a:p>
        </p:txBody>
      </p:sp>
      <p:sp>
        <p:nvSpPr>
          <p:cNvPr id="8" name="TextBox 7"/>
          <p:cNvSpPr txBox="1"/>
          <p:nvPr/>
        </p:nvSpPr>
        <p:spPr>
          <a:xfrm>
            <a:off x="671332" y="1377388"/>
            <a:ext cx="5548314" cy="2585323"/>
          </a:xfrm>
          <a:prstGeom prst="rect">
            <a:avLst/>
          </a:prstGeom>
          <a:noFill/>
        </p:spPr>
        <p:txBody>
          <a:bodyPr wrap="none" rtlCol="0">
            <a:spAutoFit/>
          </a:bodyPr>
          <a:lstStyle/>
          <a:p>
            <a:pPr>
              <a:defRPr/>
            </a:pPr>
            <a:r>
              <a:rPr lang="en-US" b="1" dirty="0">
                <a:latin typeface="Times New Roman" panose="02020603050405020304" pitchFamily="18" charset="0"/>
                <a:cs typeface="Times New Roman" panose="02020603050405020304" pitchFamily="18" charset="0"/>
              </a:rPr>
              <a:t> </a:t>
            </a:r>
          </a:p>
          <a:p>
            <a:pPr>
              <a:defRPr/>
            </a:pPr>
            <a:r>
              <a:rPr lang="en-US" b="1" dirty="0">
                <a:latin typeface="Times New Roman" panose="02020603050405020304" pitchFamily="18" charset="0"/>
                <a:cs typeface="Times New Roman" panose="02020603050405020304" pitchFamily="18" charset="0"/>
              </a:rPr>
              <a:t>    Choose either of these for each team member and elaborate</a:t>
            </a:r>
          </a:p>
          <a:p>
            <a:pPr>
              <a:buFont typeface="+mj-lt"/>
              <a:buAutoNum type="arabicPeriod"/>
              <a:defRPr/>
            </a:pPr>
            <a:r>
              <a:rPr lang="en-IN" dirty="0">
                <a:latin typeface="Times New Roman" panose="02020603050405020304" pitchFamily="18" charset="0"/>
                <a:cs typeface="Times New Roman" panose="02020603050405020304" pitchFamily="18" charset="0"/>
              </a:rPr>
              <a:t> Project Initiation</a:t>
            </a:r>
          </a:p>
          <a:p>
            <a:pPr>
              <a:buFont typeface="+mj-lt"/>
              <a:buAutoNum type="arabicPeriod"/>
              <a:defRPr/>
            </a:pPr>
            <a:r>
              <a:rPr lang="en-IN" dirty="0">
                <a:latin typeface="Times New Roman" panose="02020603050405020304" pitchFamily="18" charset="0"/>
                <a:cs typeface="Times New Roman" panose="02020603050405020304" pitchFamily="18" charset="0"/>
              </a:rPr>
              <a:t>Project Planning</a:t>
            </a:r>
          </a:p>
          <a:p>
            <a:pPr>
              <a:buFont typeface="+mj-lt"/>
              <a:buAutoNum type="arabicPeriod"/>
              <a:defRPr/>
            </a:pPr>
            <a:r>
              <a:rPr lang="en-IN" dirty="0">
                <a:latin typeface="Times New Roman" panose="02020603050405020304" pitchFamily="18" charset="0"/>
                <a:cs typeface="Times New Roman" panose="02020603050405020304" pitchFamily="18" charset="0"/>
              </a:rPr>
              <a:t>Testing &amp; Validation</a:t>
            </a:r>
          </a:p>
          <a:p>
            <a:pPr>
              <a:buFont typeface="+mj-lt"/>
              <a:buAutoNum type="arabicPeriod"/>
              <a:defRPr/>
            </a:pPr>
            <a:r>
              <a:rPr lang="en-US" dirty="0">
                <a:latin typeface="Times New Roman" panose="02020603050405020304" pitchFamily="18" charset="0"/>
                <a:cs typeface="Times New Roman" panose="02020603050405020304" pitchFamily="18" charset="0"/>
              </a:rPr>
              <a:t>Project Documentation (Will be for each team member)</a:t>
            </a:r>
          </a:p>
          <a:p>
            <a:pPr>
              <a:buFont typeface="+mj-lt"/>
              <a:buAutoNum type="arabicPeriod"/>
              <a:defRPr/>
            </a:pPr>
            <a:r>
              <a:rPr lang="en-IN" dirty="0">
                <a:latin typeface="Times New Roman" panose="02020603050405020304" pitchFamily="18" charset="0"/>
                <a:cs typeface="Times New Roman" panose="02020603050405020304" pitchFamily="18" charset="0"/>
              </a:rPr>
              <a:t>Project Presentation &amp; Evaluation </a:t>
            </a:r>
            <a:r>
              <a:rPr lang="en-US" dirty="0">
                <a:latin typeface="Times New Roman" panose="02020603050405020304" pitchFamily="18" charset="0"/>
                <a:cs typeface="Times New Roman" panose="02020603050405020304" pitchFamily="18" charset="0"/>
              </a:rPr>
              <a:t>(Will be for each team member)</a:t>
            </a:r>
          </a:p>
          <a:p>
            <a:pPr>
              <a:buFont typeface="+mj-lt"/>
              <a:buAutoNum type="arabicPeriod"/>
              <a:defRPr/>
            </a:pPr>
            <a:r>
              <a:rPr lang="en-IN" dirty="0">
                <a:latin typeface="Times New Roman" panose="02020603050405020304" pitchFamily="18" charset="0"/>
                <a:cs typeface="Times New Roman" panose="02020603050405020304" pitchFamily="18" charset="0"/>
              </a:rPr>
              <a:t>Project Closure</a:t>
            </a:r>
            <a:endParaRPr lang="en-US" dirty="0">
              <a:latin typeface="Times New Roman" panose="02020603050405020304" pitchFamily="18" charset="0"/>
              <a:cs typeface="Times New Roman" panose="02020603050405020304" pitchFamily="18" charset="0"/>
            </a:endParaRPr>
          </a:p>
          <a:p>
            <a:pPr>
              <a:defRPr/>
            </a:pPr>
            <a:endParaRPr lang="en-US" sz="1100" dirty="0">
              <a:latin typeface="Times New Roman" panose="02020603050405020304" pitchFamily="18" charset="0"/>
              <a:cs typeface="Times New Roman" panose="02020603050405020304" pitchFamily="18" charset="0"/>
            </a:endParaRPr>
          </a:p>
          <a:p>
            <a:pPr>
              <a:defRPr/>
            </a:pPr>
            <a:r>
              <a:rPr lang="en-US" sz="1100" b="1" dirty="0">
                <a:latin typeface="Times New Roman" panose="02020603050405020304" pitchFamily="18" charset="0"/>
                <a:cs typeface="Times New Roman" panose="02020603050405020304" pitchFamily="18" charset="0"/>
              </a:rPr>
              <a:t>Note</a:t>
            </a:r>
            <a:r>
              <a:rPr lang="en-US" sz="1100" dirty="0">
                <a:latin typeface="Times New Roman" panose="02020603050405020304" pitchFamily="18" charset="0"/>
                <a:cs typeface="Times New Roman" panose="02020603050405020304" pitchFamily="18" charset="0"/>
              </a:rPr>
              <a:t>: Refer sample for each of the above phase in the Annexure-1 (at the last slides of this </a:t>
            </a:r>
            <a:r>
              <a:rPr lang="en-US" sz="1100" dirty="0" err="1">
                <a:latin typeface="Times New Roman" panose="02020603050405020304" pitchFamily="18" charset="0"/>
                <a:cs typeface="Times New Roman" panose="02020603050405020304" pitchFamily="18" charset="0"/>
              </a:rPr>
              <a:t>ppt</a:t>
            </a:r>
            <a:r>
              <a:rPr lang="en-US" sz="1100" dirty="0">
                <a:latin typeface="Times New Roman" panose="02020603050405020304" pitchFamily="18" charset="0"/>
                <a:cs typeface="Times New Roman" panose="02020603050405020304" pitchFamily="18" charset="0"/>
              </a:rPr>
              <a:t>)</a:t>
            </a:r>
          </a:p>
          <a:p>
            <a:pPr>
              <a:defRPr/>
            </a:pPr>
            <a:endParaRPr lang="en-US" b="1"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C6D326DB-6C54-EF56-48F3-210543C76EE5}"/>
              </a:ext>
            </a:extLst>
          </p:cNvPr>
          <p:cNvSpPr>
            <a:spLocks noChangeArrowheads="1"/>
          </p:cNvSpPr>
          <p:nvPr/>
        </p:nvSpPr>
        <p:spPr bwMode="auto">
          <a:xfrm>
            <a:off x="219919" y="178988"/>
            <a:ext cx="8105104"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Work Breakdown &amp; Task Allocation</a:t>
            </a:r>
          </a:p>
        </p:txBody>
      </p:sp>
      <p:sp>
        <p:nvSpPr>
          <p:cNvPr id="3" name="Rectangle 2"/>
          <p:cNvSpPr/>
          <p:nvPr/>
        </p:nvSpPr>
        <p:spPr>
          <a:xfrm>
            <a:off x="445197" y="725307"/>
            <a:ext cx="7002083" cy="400110"/>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AKSHAT VASHISTH – VU22CSEN0300234</a:t>
            </a:r>
            <a:endParaRPr lang="en-IN" sz="2000"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F4BE95D1-4483-BCF8-B98C-3E921A90D974}"/>
              </a:ext>
            </a:extLst>
          </p:cNvPr>
          <p:cNvGraphicFramePr>
            <a:graphicFrameLocks noGrp="1"/>
          </p:cNvGraphicFramePr>
          <p:nvPr>
            <p:extLst>
              <p:ext uri="{D42A27DB-BD31-4B8C-83A1-F6EECF244321}">
                <p14:modId xmlns:p14="http://schemas.microsoft.com/office/powerpoint/2010/main" val="4006179015"/>
              </p:ext>
            </p:extLst>
          </p:nvPr>
        </p:nvGraphicFramePr>
        <p:xfrm>
          <a:off x="445197" y="1371638"/>
          <a:ext cx="10984804" cy="3139440"/>
        </p:xfrm>
        <a:graphic>
          <a:graphicData uri="http://schemas.openxmlformats.org/drawingml/2006/table">
            <a:tbl>
              <a:tblPr firstRow="1" bandRow="1">
                <a:tableStyleId>{2D5ABB26-0587-4C30-8999-92F81FD0307C}</a:tableStyleId>
              </a:tblPr>
              <a:tblGrid>
                <a:gridCol w="5492402">
                  <a:extLst>
                    <a:ext uri="{9D8B030D-6E8A-4147-A177-3AD203B41FA5}">
                      <a16:colId xmlns:a16="http://schemas.microsoft.com/office/drawing/2014/main" val="3075130141"/>
                    </a:ext>
                  </a:extLst>
                </a:gridCol>
                <a:gridCol w="5492402">
                  <a:extLst>
                    <a:ext uri="{9D8B030D-6E8A-4147-A177-3AD203B41FA5}">
                      <a16:colId xmlns:a16="http://schemas.microsoft.com/office/drawing/2014/main" val="2027638823"/>
                    </a:ext>
                  </a:extLst>
                </a:gridCol>
              </a:tblGrid>
              <a:tr h="2389635">
                <a:tc>
                  <a:txBody>
                    <a:bodyPr/>
                    <a:lstStyle/>
                    <a:p>
                      <a:pPr>
                        <a:spcBef>
                          <a:spcPct val="0"/>
                        </a:spcBef>
                        <a:buFontTx/>
                        <a:buNone/>
                      </a:pPr>
                      <a:r>
                        <a:rPr lang="en-IN" altLang="en-US" sz="2000" b="1" dirty="0">
                          <a:latin typeface="Times New Roman" panose="02020603050405020304" pitchFamily="18" charset="0"/>
                          <a:cs typeface="Times New Roman" panose="02020603050405020304" pitchFamily="18" charset="0"/>
                        </a:rPr>
                        <a:t>1. Project Planning</a:t>
                      </a:r>
                    </a:p>
                    <a:p>
                      <a:pPr marL="342900" indent="-342900">
                        <a:spcBef>
                          <a:spcPct val="0"/>
                        </a:spcBef>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rPr>
                        <a:t>Develop project proposal</a:t>
                      </a:r>
                    </a:p>
                    <a:p>
                      <a:pPr marL="342900" indent="-342900">
                        <a:spcBef>
                          <a:spcPct val="0"/>
                        </a:spcBef>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rPr>
                        <a:t>Define requirements &amp; specifications</a:t>
                      </a:r>
                    </a:p>
                    <a:p>
                      <a:pPr marL="342900" indent="-342900">
                        <a:spcBef>
                          <a:spcPct val="0"/>
                        </a:spcBef>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rPr>
                        <a:t>Prepare project schedule (Gantt chart, milestones)</a:t>
                      </a:r>
                    </a:p>
                    <a:p>
                      <a:pPr marL="342900" indent="-342900">
                        <a:spcBef>
                          <a:spcPct val="0"/>
                        </a:spcBef>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rPr>
                        <a:t>Risk identification &amp; mitigation plan</a:t>
                      </a:r>
                    </a:p>
                    <a:p>
                      <a:pPr marL="342900" indent="-342900">
                        <a:spcBef>
                          <a:spcPct val="0"/>
                        </a:spcBef>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rPr>
                        <a:t>Resource planning (tools, budget, data, hardware/software) </a:t>
                      </a:r>
                    </a:p>
                    <a:p>
                      <a:pPr marL="342900" indent="-342900">
                        <a:spcBef>
                          <a:spcPct val="0"/>
                        </a:spcBef>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rPr>
                        <a:t>Define evaluation metrics / success criteria</a:t>
                      </a:r>
                    </a:p>
                    <a:p>
                      <a:pPr marL="342900" lvl="3"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667537"/>
                  </a:ext>
                </a:extLst>
              </a:tr>
            </a:tbl>
          </a:graphicData>
        </a:graphic>
      </p:graphicFrame>
    </p:spTree>
    <p:extLst>
      <p:ext uri="{BB962C8B-B14F-4D97-AF65-F5344CB8AC3E}">
        <p14:creationId xmlns:p14="http://schemas.microsoft.com/office/powerpoint/2010/main" val="3583386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C6D326DB-6C54-EF56-48F3-210543C76EE5}"/>
              </a:ext>
            </a:extLst>
          </p:cNvPr>
          <p:cNvSpPr>
            <a:spLocks noChangeArrowheads="1"/>
          </p:cNvSpPr>
          <p:nvPr/>
        </p:nvSpPr>
        <p:spPr bwMode="auto">
          <a:xfrm>
            <a:off x="219919" y="178988"/>
            <a:ext cx="8105104"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Work Breakdown &amp; Task Allocation</a:t>
            </a:r>
          </a:p>
        </p:txBody>
      </p:sp>
      <p:sp>
        <p:nvSpPr>
          <p:cNvPr id="3" name="Rectangle 2"/>
          <p:cNvSpPr/>
          <p:nvPr/>
        </p:nvSpPr>
        <p:spPr>
          <a:xfrm>
            <a:off x="313117" y="825319"/>
            <a:ext cx="6700873"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MANIKONDA SATYA VARDHAN – VU22CSEN0300205 </a:t>
            </a:r>
            <a:endParaRPr lang="en-IN" sz="20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5CC7B27-C186-3E06-BF98-AE898CAA1B47}"/>
              </a:ext>
            </a:extLst>
          </p:cNvPr>
          <p:cNvGraphicFramePr>
            <a:graphicFrameLocks noGrp="1"/>
          </p:cNvGraphicFramePr>
          <p:nvPr>
            <p:extLst>
              <p:ext uri="{D42A27DB-BD31-4B8C-83A1-F6EECF244321}">
                <p14:modId xmlns:p14="http://schemas.microsoft.com/office/powerpoint/2010/main" val="3770296184"/>
              </p:ext>
            </p:extLst>
          </p:nvPr>
        </p:nvGraphicFramePr>
        <p:xfrm>
          <a:off x="603598" y="1164469"/>
          <a:ext cx="10984804" cy="5669280"/>
        </p:xfrm>
        <a:graphic>
          <a:graphicData uri="http://schemas.openxmlformats.org/drawingml/2006/table">
            <a:tbl>
              <a:tblPr firstRow="1" bandRow="1">
                <a:tableStyleId>{2D5ABB26-0587-4C30-8999-92F81FD0307C}</a:tableStyleId>
              </a:tblPr>
              <a:tblGrid>
                <a:gridCol w="5492402">
                  <a:extLst>
                    <a:ext uri="{9D8B030D-6E8A-4147-A177-3AD203B41FA5}">
                      <a16:colId xmlns:a16="http://schemas.microsoft.com/office/drawing/2014/main" val="1281566489"/>
                    </a:ext>
                  </a:extLst>
                </a:gridCol>
                <a:gridCol w="5492402">
                  <a:extLst>
                    <a:ext uri="{9D8B030D-6E8A-4147-A177-3AD203B41FA5}">
                      <a16:colId xmlns:a16="http://schemas.microsoft.com/office/drawing/2014/main" val="4078221206"/>
                    </a:ext>
                  </a:extLst>
                </a:gridCol>
              </a:tblGrid>
              <a:tr h="2389635">
                <a:tc>
                  <a:txBody>
                    <a:bodyPr/>
                    <a:lstStyle/>
                    <a:p>
                      <a:pPr marL="342900" indent="-342900">
                        <a:buAutoNum type="arabicPeriod"/>
                      </a:pPr>
                      <a:r>
                        <a:rPr lang="en-IN" sz="2000" b="1" dirty="0">
                          <a:latin typeface="Times New Roman" panose="02020603050405020304" pitchFamily="18" charset="0"/>
                          <a:cs typeface="Times New Roman" panose="02020603050405020304" pitchFamily="18" charset="0"/>
                        </a:rPr>
                        <a:t>Project Design &amp; Development </a:t>
                      </a:r>
                    </a:p>
                    <a:p>
                      <a:pPr marL="0" indent="0">
                        <a:buNone/>
                      </a:pPr>
                      <a:endParaRPr lang="en-IN" sz="2000" b="1" dirty="0">
                        <a:latin typeface="Times New Roman" panose="02020603050405020304" pitchFamily="18" charset="0"/>
                        <a:cs typeface="Times New Roman" panose="02020603050405020304" pitchFamily="18" charset="0"/>
                      </a:endParaRP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System / solution design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Development / Implementation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Environment setup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Literature review / background study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Preprocessing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development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Prototype demonstration</a:t>
                      </a:r>
                    </a:p>
                    <a:p>
                      <a:pPr marL="342900" lvl="3"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b="1"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Project Initiation </a:t>
                      </a:r>
                    </a:p>
                    <a:p>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Define project objectives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Identify project scope and deliverables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Select project topic/problem statement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Literature review / background study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Form project team &amp; assign roles Approval from Guide</a:t>
                      </a:r>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7965347"/>
                  </a:ext>
                </a:extLst>
              </a:tr>
              <a:tr h="2484967">
                <a:tc>
                  <a:txBody>
                    <a:bodyPr/>
                    <a:lstStyle/>
                    <a:p>
                      <a:r>
                        <a:rPr lang="en-IN" sz="2000" b="1" dirty="0">
                          <a:latin typeface="Times New Roman" panose="02020603050405020304" pitchFamily="18" charset="0"/>
                          <a:cs typeface="Times New Roman" panose="02020603050405020304" pitchFamily="18" charset="0"/>
                        </a:rPr>
                        <a:t>3. Documentation </a:t>
                      </a:r>
                    </a:p>
                    <a:p>
                      <a:endParaRPr lang="en-IN"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Draft project report (Introduction, Methodology, Results, Discussion) </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Prepare technical documentation (user manual, installation guide) </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Review &amp; finalize report Submit final documentation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b="1" dirty="0">
                          <a:latin typeface="Times New Roman" panose="02020603050405020304" pitchFamily="18" charset="0"/>
                          <a:cs typeface="Times New Roman" panose="02020603050405020304" pitchFamily="18" charset="0"/>
                        </a:rPr>
                        <a:t>4. Project Presentation &amp; Evaluation </a:t>
                      </a:r>
                    </a:p>
                    <a:p>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Prepare presentation slides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Rehearse presentation &amp; Q&amp;A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Final presentation / viva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Feedback from evaluators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Final improvements</a:t>
                      </a:r>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18738989"/>
                  </a:ext>
                </a:extLst>
              </a:tr>
            </a:tbl>
          </a:graphicData>
        </a:graphic>
      </p:graphicFrame>
    </p:spTree>
    <p:extLst>
      <p:ext uri="{BB962C8B-B14F-4D97-AF65-F5344CB8AC3E}">
        <p14:creationId xmlns:p14="http://schemas.microsoft.com/office/powerpoint/2010/main" val="1932204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C6D326DB-6C54-EF56-48F3-210543C76EE5}"/>
              </a:ext>
            </a:extLst>
          </p:cNvPr>
          <p:cNvSpPr>
            <a:spLocks noChangeArrowheads="1"/>
          </p:cNvSpPr>
          <p:nvPr/>
        </p:nvSpPr>
        <p:spPr bwMode="auto">
          <a:xfrm>
            <a:off x="219919" y="178988"/>
            <a:ext cx="8105104"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Work Breakdown &amp; Task Allocation</a:t>
            </a:r>
          </a:p>
        </p:txBody>
      </p:sp>
      <p:sp>
        <p:nvSpPr>
          <p:cNvPr id="3" name="Rectangle 2"/>
          <p:cNvSpPr/>
          <p:nvPr/>
        </p:nvSpPr>
        <p:spPr>
          <a:xfrm>
            <a:off x="445197" y="667133"/>
            <a:ext cx="4150495"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SRUTHIKA – VU22CSEN0300300  </a:t>
            </a:r>
            <a:endParaRPr lang="en-IN" sz="2000"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A36C1B95-18D9-BCF9-C727-A77AB9AF8012}"/>
              </a:ext>
            </a:extLst>
          </p:cNvPr>
          <p:cNvGraphicFramePr>
            <a:graphicFrameLocks noGrp="1"/>
          </p:cNvGraphicFramePr>
          <p:nvPr>
            <p:extLst>
              <p:ext uri="{D42A27DB-BD31-4B8C-83A1-F6EECF244321}">
                <p14:modId xmlns:p14="http://schemas.microsoft.com/office/powerpoint/2010/main" val="185107720"/>
              </p:ext>
            </p:extLst>
          </p:nvPr>
        </p:nvGraphicFramePr>
        <p:xfrm>
          <a:off x="445197" y="1313464"/>
          <a:ext cx="10984804" cy="5624407"/>
        </p:xfrm>
        <a:graphic>
          <a:graphicData uri="http://schemas.openxmlformats.org/drawingml/2006/table">
            <a:tbl>
              <a:tblPr firstRow="1" bandRow="1">
                <a:tableStyleId>{2D5ABB26-0587-4C30-8999-92F81FD0307C}</a:tableStyleId>
              </a:tblPr>
              <a:tblGrid>
                <a:gridCol w="5492402">
                  <a:extLst>
                    <a:ext uri="{9D8B030D-6E8A-4147-A177-3AD203B41FA5}">
                      <a16:colId xmlns:a16="http://schemas.microsoft.com/office/drawing/2014/main" val="3075130141"/>
                    </a:ext>
                  </a:extLst>
                </a:gridCol>
                <a:gridCol w="5492402">
                  <a:extLst>
                    <a:ext uri="{9D8B030D-6E8A-4147-A177-3AD203B41FA5}">
                      <a16:colId xmlns:a16="http://schemas.microsoft.com/office/drawing/2014/main" val="2027638823"/>
                    </a:ext>
                  </a:extLst>
                </a:gridCol>
              </a:tblGrid>
              <a:tr h="2389635">
                <a:tc>
                  <a:txBody>
                    <a:bodyPr/>
                    <a:lstStyle/>
                    <a:p>
                      <a:pPr marL="342900" indent="-342900">
                        <a:buAutoNum type="arabicPeriod"/>
                      </a:pPr>
                      <a:r>
                        <a:rPr lang="en-IN" sz="2000" b="1" dirty="0">
                          <a:latin typeface="Times New Roman" panose="02020603050405020304" pitchFamily="18" charset="0"/>
                          <a:cs typeface="Times New Roman" panose="02020603050405020304" pitchFamily="18" charset="0"/>
                        </a:rPr>
                        <a:t>Project Design &amp; Development </a:t>
                      </a:r>
                    </a:p>
                    <a:p>
                      <a:pPr marL="0" indent="0">
                        <a:buNone/>
                      </a:pPr>
                      <a:endParaRPr lang="en-IN" sz="2000" b="1" dirty="0">
                        <a:latin typeface="Times New Roman" panose="02020603050405020304" pitchFamily="18" charset="0"/>
                        <a:cs typeface="Times New Roman" panose="02020603050405020304" pitchFamily="18" charset="0"/>
                      </a:endParaRP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System / solution design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Development / Implementation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Environment setup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Literature review / background study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Preprocessing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development </a:t>
                      </a:r>
                    </a:p>
                    <a:p>
                      <a:pPr marL="342900" lvl="3"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Prototype demonstration</a:t>
                      </a:r>
                    </a:p>
                    <a:p>
                      <a:pPr marL="342900" lvl="3"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b="1" dirty="0">
                          <a:latin typeface="Times New Roman" panose="02020603050405020304" pitchFamily="18" charset="0"/>
                          <a:cs typeface="Times New Roman" panose="02020603050405020304" pitchFamily="18" charset="0"/>
                        </a:rPr>
                        <a:t>2. Project Presentation &amp; Evaluation </a:t>
                      </a:r>
                    </a:p>
                    <a:p>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Prepare presentation slides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Rehearse presentation &amp; Q&amp;A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Final presentation / viva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Feedback from evaluators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Final improvements</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667537"/>
                  </a:ext>
                </a:extLst>
              </a:tr>
              <a:tr h="2484967">
                <a:tc>
                  <a:txBody>
                    <a:bodyPr/>
                    <a:lstStyle/>
                    <a:p>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6872370"/>
                  </a:ext>
                </a:extLst>
              </a:tr>
            </a:tbl>
          </a:graphicData>
        </a:graphic>
      </p:graphicFrame>
    </p:spTree>
    <p:extLst>
      <p:ext uri="{BB962C8B-B14F-4D97-AF65-F5344CB8AC3E}">
        <p14:creationId xmlns:p14="http://schemas.microsoft.com/office/powerpoint/2010/main" val="73655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C6D326DB-6C54-EF56-48F3-210543C76EE5}"/>
              </a:ext>
            </a:extLst>
          </p:cNvPr>
          <p:cNvSpPr>
            <a:spLocks noChangeArrowheads="1"/>
          </p:cNvSpPr>
          <p:nvPr/>
        </p:nvSpPr>
        <p:spPr bwMode="auto">
          <a:xfrm>
            <a:off x="219919" y="178988"/>
            <a:ext cx="2741456"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Conclusion</a:t>
            </a:r>
          </a:p>
        </p:txBody>
      </p:sp>
      <p:sp>
        <p:nvSpPr>
          <p:cNvPr id="2" name="TextBox 1">
            <a:extLst>
              <a:ext uri="{FF2B5EF4-FFF2-40B4-BE49-F238E27FC236}">
                <a16:creationId xmlns:a16="http://schemas.microsoft.com/office/drawing/2014/main" id="{9FE02910-6F86-4339-8EAD-4DEFFE03420E}"/>
              </a:ext>
            </a:extLst>
          </p:cNvPr>
          <p:cNvSpPr txBox="1"/>
          <p:nvPr/>
        </p:nvSpPr>
        <p:spPr>
          <a:xfrm>
            <a:off x="304800" y="1257481"/>
            <a:ext cx="11612880"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This project successfully demonstrates the potential of a </a:t>
            </a:r>
            <a:r>
              <a:rPr lang="en-US" sz="2000" b="1" dirty="0">
                <a:latin typeface="Times New Roman" panose="02020603050405020304" pitchFamily="18" charset="0"/>
                <a:cs typeface="Times New Roman" panose="02020603050405020304" pitchFamily="18" charset="0"/>
              </a:rPr>
              <a:t>hybrid swarm intelligence framework</a:t>
            </a:r>
            <a:r>
              <a:rPr lang="en-US" sz="2000" dirty="0">
                <a:latin typeface="Times New Roman" panose="02020603050405020304" pitchFamily="18" charset="0"/>
                <a:cs typeface="Times New Roman" panose="02020603050405020304" pitchFamily="18" charset="0"/>
              </a:rPr>
              <a:t>, combining Particle Swarm Optimization (PSO) and Genetic Algorithms (GA), to automate and optimize the design of neural network architectures for medical imaging tasks. By leveraging PSO’s strength in </a:t>
            </a:r>
            <a:r>
              <a:rPr lang="en-US" sz="2000" b="1" dirty="0">
                <a:latin typeface="Times New Roman" panose="02020603050405020304" pitchFamily="18" charset="0"/>
                <a:cs typeface="Times New Roman" panose="02020603050405020304" pitchFamily="18" charset="0"/>
              </a:rPr>
              <a:t>global exploration</a:t>
            </a:r>
            <a:r>
              <a:rPr lang="en-US" sz="2000" dirty="0">
                <a:latin typeface="Times New Roman" panose="02020603050405020304" pitchFamily="18" charset="0"/>
                <a:cs typeface="Times New Roman" panose="02020603050405020304" pitchFamily="18" charset="0"/>
              </a:rPr>
              <a:t> and GA’s capability for </a:t>
            </a:r>
            <a:r>
              <a:rPr lang="en-US" sz="2000" b="1" dirty="0">
                <a:latin typeface="Times New Roman" panose="02020603050405020304" pitchFamily="18" charset="0"/>
                <a:cs typeface="Times New Roman" panose="02020603050405020304" pitchFamily="18" charset="0"/>
              </a:rPr>
              <a:t>local exploitation</a:t>
            </a:r>
            <a:r>
              <a:rPr lang="en-US" sz="2000" dirty="0">
                <a:latin typeface="Times New Roman" panose="02020603050405020304" pitchFamily="18" charset="0"/>
                <a:cs typeface="Times New Roman" panose="02020603050405020304" pitchFamily="18" charset="0"/>
              </a:rPr>
              <a:t>, the framework overcomes the limitations of individual algorithms—such as premature convergence and hyperparameter dependence—while delivering </a:t>
            </a:r>
            <a:r>
              <a:rPr lang="en-US" sz="2000" b="1" dirty="0">
                <a:latin typeface="Times New Roman" panose="02020603050405020304" pitchFamily="18" charset="0"/>
                <a:cs typeface="Times New Roman" panose="02020603050405020304" pitchFamily="18" charset="0"/>
              </a:rPr>
              <a:t>more robust, efficient, and generalizable</a:t>
            </a:r>
            <a:r>
              <a:rPr lang="en-US" sz="2000" dirty="0">
                <a:latin typeface="Times New Roman" panose="02020603050405020304" pitchFamily="18" charset="0"/>
                <a:cs typeface="Times New Roman" panose="02020603050405020304" pitchFamily="18" charset="0"/>
              </a:rPr>
              <a:t> neural architectures. Validation on diverse medical imaging datasets showcases its ability to not only improve accuracy in tasks like MRI-based brain tumor classification but also extend its applicability to other neural network paradigms, such as RNNs and LSTMs. The integration of these complementary optimization techniques paves the way for </a:t>
            </a:r>
            <a:r>
              <a:rPr lang="en-US" sz="2000" b="1" dirty="0">
                <a:latin typeface="Times New Roman" panose="02020603050405020304" pitchFamily="18" charset="0"/>
                <a:cs typeface="Times New Roman" panose="02020603050405020304" pitchFamily="18" charset="0"/>
              </a:rPr>
              <a:t>faster, more reliable AI model development</a:t>
            </a:r>
            <a:r>
              <a:rPr lang="en-US" sz="2000" dirty="0">
                <a:latin typeface="Times New Roman" panose="02020603050405020304" pitchFamily="18" charset="0"/>
                <a:cs typeface="Times New Roman" panose="02020603050405020304" pitchFamily="18" charset="0"/>
              </a:rPr>
              <a:t> in healthcare, reducing the need for manual tuning and enabling broader adoption of automated neural architecture search across various domains. Future work could further refine the framework’s scalability and explore its application in other critical fields, such as autonomous systems and natural language processing.</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8872F9E7-B9C4-D955-6488-B7B8AC5CCF09}"/>
              </a:ext>
            </a:extLst>
          </p:cNvPr>
          <p:cNvSpPr>
            <a:spLocks noChangeArrowheads="1"/>
          </p:cNvSpPr>
          <p:nvPr/>
        </p:nvSpPr>
        <p:spPr bwMode="auto">
          <a:xfrm>
            <a:off x="111760" y="873126"/>
            <a:ext cx="12080239"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None/>
            </a:pPr>
            <a:r>
              <a:rPr lang="en-US" altLang="en-US" sz="2000" dirty="0">
                <a:solidFill>
                  <a:srgbClr val="000000"/>
                </a:solidFill>
                <a:latin typeface="Times New Roman" panose="02020603050405020304" pitchFamily="18" charset="0"/>
                <a:cs typeface="Times New Roman" panose="02020603050405020304" pitchFamily="18" charset="0"/>
              </a:rPr>
              <a:t>[1] R. A. Naqvi, A. U. Haq, M. Z. Khan, M. S. Farid, and M. K. Shahzad, “Automatic CNN architecture optimization for brain tumor classification using Particle Swarm Optimization,” Journal of Imaging, vol. 11, no. 31, pp. 1–19, 2023. </a:t>
            </a:r>
          </a:p>
          <a:p>
            <a:pPr>
              <a:buNone/>
            </a:pPr>
            <a:r>
              <a:rPr lang="en-US" altLang="en-US" sz="2000" dirty="0">
                <a:solidFill>
                  <a:srgbClr val="000000"/>
                </a:solidFill>
                <a:latin typeface="Times New Roman" panose="02020603050405020304" pitchFamily="18" charset="0"/>
                <a:cs typeface="Times New Roman" panose="02020603050405020304" pitchFamily="18" charset="0"/>
              </a:rPr>
              <a:t>[2] M. R. Deepthi and M. Jyothi, “Brain Tumor Detection in MRI Images Using Texture Features and SVM,” International Journal of Engineering Research &amp; Technology, vol. 9, no. 6, pp. 450–455, 2020.</a:t>
            </a:r>
          </a:p>
          <a:p>
            <a:pPr>
              <a:buNone/>
            </a:pPr>
            <a:r>
              <a:rPr lang="en-US" altLang="en-US" sz="2000" dirty="0">
                <a:solidFill>
                  <a:srgbClr val="000000"/>
                </a:solidFill>
                <a:latin typeface="Times New Roman" panose="02020603050405020304" pitchFamily="18" charset="0"/>
                <a:cs typeface="Times New Roman" panose="02020603050405020304" pitchFamily="18" charset="0"/>
              </a:rPr>
              <a:t>[3] A. S. Alfonse and M. A. Salem, “An Automatic Classification of Brain Tumors from MRI Using GLCM and Random Forest,” International Journal of Computer Applications, vol. 146, no. 9, pp. 1–8, 2016.</a:t>
            </a:r>
          </a:p>
          <a:p>
            <a:pPr>
              <a:buNone/>
            </a:pPr>
            <a:r>
              <a:rPr lang="en-US" altLang="en-US" sz="2000" dirty="0">
                <a:solidFill>
                  <a:srgbClr val="000000"/>
                </a:solidFill>
                <a:latin typeface="Times New Roman" panose="02020603050405020304" pitchFamily="18" charset="0"/>
                <a:cs typeface="Times New Roman" panose="02020603050405020304" pitchFamily="18" charset="0"/>
              </a:rPr>
              <a:t>[4] Y. Xie and A. Yuille, “Genetic CNN,” in Proc. IEEE International Conference on Computer Vision (ICCV), 2017, pp. 1379–1388.</a:t>
            </a:r>
          </a:p>
          <a:p>
            <a:pPr>
              <a:buNone/>
            </a:pPr>
            <a:r>
              <a:rPr lang="en-US" altLang="en-US" sz="2000" dirty="0">
                <a:solidFill>
                  <a:srgbClr val="000000"/>
                </a:solidFill>
                <a:latin typeface="Times New Roman" panose="02020603050405020304" pitchFamily="18" charset="0"/>
                <a:cs typeface="Times New Roman" panose="02020603050405020304" pitchFamily="18" charset="0"/>
              </a:rPr>
              <a:t>[5] E. Real, S. Moore, A. Selle et al., “Large-Scale Evolution of Image Classifiers,” in Proc. 34th International Conference on Machine Learning (ICML), 2017, pp. 2902–2911.</a:t>
            </a:r>
          </a:p>
          <a:p>
            <a:pPr>
              <a:buNone/>
            </a:pPr>
            <a:r>
              <a:rPr lang="en-US" altLang="en-US" sz="2000" dirty="0">
                <a:solidFill>
                  <a:srgbClr val="000000"/>
                </a:solidFill>
                <a:latin typeface="Times New Roman" panose="02020603050405020304" pitchFamily="18" charset="0"/>
                <a:cs typeface="Times New Roman" panose="02020603050405020304" pitchFamily="18" charset="0"/>
              </a:rPr>
              <a:t>[6] J. Suganuma, S. Shirakawa, and T. Nagao, “A Genetic Programming Approach to Designing CNN Architectures,” in GECCO ’17: Genetic and Evolutionary Computation Conference, 2017, pp. 497–504.</a:t>
            </a:r>
          </a:p>
        </p:txBody>
      </p:sp>
      <p:sp>
        <p:nvSpPr>
          <p:cNvPr id="7" name="Rectangle 4">
            <a:extLst>
              <a:ext uri="{FF2B5EF4-FFF2-40B4-BE49-F238E27FC236}">
                <a16:creationId xmlns:a16="http://schemas.microsoft.com/office/drawing/2014/main" id="{C6D326DB-6C54-EF56-48F3-210543C76EE5}"/>
              </a:ext>
            </a:extLst>
          </p:cNvPr>
          <p:cNvSpPr>
            <a:spLocks noChangeArrowheads="1"/>
          </p:cNvSpPr>
          <p:nvPr/>
        </p:nvSpPr>
        <p:spPr bwMode="auto">
          <a:xfrm>
            <a:off x="219919" y="178988"/>
            <a:ext cx="2775119" cy="646331"/>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3600" b="1" dirty="0">
                <a:solidFill>
                  <a:srgbClr val="007069"/>
                </a:solidFill>
                <a:latin typeface="Inter"/>
                <a:ea typeface="Inter"/>
                <a:cs typeface="Inter"/>
              </a:rPr>
              <a:t>References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5"/>
          <p:cNvSpPr txBox="1"/>
          <p:nvPr/>
        </p:nvSpPr>
        <p:spPr>
          <a:xfrm>
            <a:off x="707572" y="3001566"/>
            <a:ext cx="4706257"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b="1">
                <a:solidFill>
                  <a:srgbClr val="007367"/>
                </a:solidFill>
                <a:latin typeface="Inter"/>
                <a:ea typeface="Inter"/>
                <a:cs typeface="Inter"/>
                <a:sym typeface="Inter"/>
              </a:rPr>
              <a:t>Thank You</a:t>
            </a:r>
            <a:endParaRPr>
              <a:latin typeface="Inter"/>
              <a:ea typeface="Inter"/>
              <a:cs typeface="Inter"/>
              <a:sym typeface="Inter"/>
            </a:endParaRPr>
          </a:p>
        </p:txBody>
      </p:sp>
      <p:sp>
        <p:nvSpPr>
          <p:cNvPr id="130" name="Google Shape;130;p5"/>
          <p:cNvSpPr/>
          <p:nvPr/>
        </p:nvSpPr>
        <p:spPr>
          <a:xfrm>
            <a:off x="783772" y="2945605"/>
            <a:ext cx="899884" cy="52507"/>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139</TotalTime>
  <Words>2052</Words>
  <Application>Microsoft Office PowerPoint</Application>
  <PresentationFormat>Widescreen</PresentationFormat>
  <Paragraphs>149</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Inter</vt:lpstr>
      <vt:lpstr>Times New Roman</vt:lpstr>
      <vt:lpstr>Plus Jakarta Sans</vt:lpstr>
      <vt:lpstr>Calibri</vt:lpstr>
      <vt:lpstr>Arial</vt:lpstr>
      <vt:lpstr>Office Theme</vt:lpstr>
      <vt:lpstr>PowerPoint Presentation</vt:lpstr>
      <vt:lpstr>PowerPoint Presentation</vt:lpstr>
      <vt:lpstr>PowerPoint Presentation</vt:lpstr>
      <vt:lpstr>PowerPoint Presentation</vt:lpstr>
      <vt:lpstr>PowerPoint Presentation</vt:lpstr>
      <vt:lpstr> </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GITAM</dc:creator>
  <cp:lastModifiedBy>Manikonda Satya Vardhan</cp:lastModifiedBy>
  <cp:revision>20</cp:revision>
  <dcterms:created xsi:type="dcterms:W3CDTF">2022-05-23T07:15:42Z</dcterms:created>
  <dcterms:modified xsi:type="dcterms:W3CDTF">2025-11-27T13:52:21Z</dcterms:modified>
</cp:coreProperties>
</file>