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9601200" cy="12801600" type="A3"/>
  <p:notesSz cx="6858000" cy="9144000"/>
  <p:embeddedFontLst>
    <p:embeddedFont>
      <p:font typeface="Inter" panose="020B0604020202020204" charset="0"/>
      <p:regular r:id="rId4"/>
      <p:bold r:id="rId5"/>
    </p:embeddedFont>
    <p:embeddedFont>
      <p:font typeface="Plus Jakarta Sans" panose="020B0604020202020204" charset="0"/>
      <p:regular r:id="rId6"/>
      <p:bold r:id="rId7"/>
      <p:italic r:id="rId8"/>
      <p:boldItalic r:id="rId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haw7R1ZIsv2CMvKNaVklE+ELCCj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82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C1A5F2-C7F4-42EF-8194-A367FB17F6C2}">
  <a:tblStyle styleId="{B1C1A5F2-C7F4-42EF-8194-A367FB17F6C2}"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802" y="-3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24" Type="http://schemas.openxmlformats.org/officeDocument/2006/relationships/presProps" Target="presProps.xml"/><Relationship Id="rId5" Type="http://schemas.openxmlformats.org/officeDocument/2006/relationships/font" Target="fonts/font2.fntdata"/><Relationship Id="rId23" Type="http://customschemas.google.com/relationships/presentationmetadata" Target="metadata"/><Relationship Id="rId4" Type="http://schemas.openxmlformats.org/officeDocument/2006/relationships/font" Target="fonts/font1.fntdata"/><Relationship Id="rId9"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Plus Jakarta Sans"/>
                <a:ea typeface="Plus Jakarta Sans"/>
                <a:cs typeface="Plus Jakarta Sans"/>
                <a:sym typeface="Plus Jakarta Sans"/>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p1:notes"/>
          <p:cNvSpPr>
            <a:spLocks noGrp="1" noRot="1" noChangeAspect="1"/>
          </p:cNvSpPr>
          <p:nvPr>
            <p:ph type="sldImg" idx="2"/>
          </p:nvPr>
        </p:nvSpPr>
        <p:spPr>
          <a:xfrm>
            <a:off x="2271713" y="1143000"/>
            <a:ext cx="231457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12"/>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4032" userDrawn="1">
          <p15:clr>
            <a:srgbClr val="FBAE40"/>
          </p15:clr>
        </p15:guide>
        <p15:guide id="2" pos="30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18"/>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8_Title Slide">
  <p:cSld name="28_Title Slide">
    <p:spTree>
      <p:nvGrpSpPr>
        <p:cNvPr id="1" name="Shape 19"/>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21"/>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31_Title Slide">
  <p:cSld name="31_Title Slide">
    <p:spTree>
      <p:nvGrpSpPr>
        <p:cNvPr id="1" name="Shape 22"/>
        <p:cNvGrpSpPr/>
        <p:nvPr/>
      </p:nvGrpSpPr>
      <p:grpSpPr>
        <a:xfrm>
          <a:off x="0" y="0"/>
          <a:ext cx="0" cy="0"/>
          <a:chOff x="0" y="0"/>
          <a:chExt cx="0" cy="0"/>
        </a:xfrm>
      </p:grpSpPr>
      <p:sp>
        <p:nvSpPr>
          <p:cNvPr id="23" name="Google Shape;23;p15"/>
          <p:cNvSpPr>
            <a:spLocks noGrp="1"/>
          </p:cNvSpPr>
          <p:nvPr>
            <p:ph type="pic" idx="2"/>
          </p:nvPr>
        </p:nvSpPr>
        <p:spPr>
          <a:xfrm>
            <a:off x="-1" y="1"/>
            <a:ext cx="7635954" cy="9088544"/>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24"/>
        <p:cNvGrpSpPr/>
        <p:nvPr/>
      </p:nvGrpSpPr>
      <p:grpSpPr>
        <a:xfrm>
          <a:off x="0" y="0"/>
          <a:ext cx="0" cy="0"/>
          <a:chOff x="0" y="0"/>
          <a:chExt cx="0" cy="0"/>
        </a:xfrm>
      </p:grpSpPr>
      <p:sp>
        <p:nvSpPr>
          <p:cNvPr id="25" name="Google Shape;25;p16"/>
          <p:cNvSpPr/>
          <p:nvPr/>
        </p:nvSpPr>
        <p:spPr>
          <a:xfrm>
            <a:off x="4800600" y="7005851"/>
            <a:ext cx="4800600" cy="4770437"/>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71997" tIns="35989" rIns="71997" bIns="35989" anchor="ctr" anchorCtr="0">
            <a:noAutofit/>
          </a:bodyPr>
          <a:lstStyle/>
          <a:p>
            <a:pPr marL="0" marR="0" lvl="0" indent="0" algn="ctr" rtl="0">
              <a:spcBef>
                <a:spcPts val="0"/>
              </a:spcBef>
              <a:spcAft>
                <a:spcPts val="0"/>
              </a:spcAft>
              <a:buNone/>
            </a:pPr>
            <a:endParaRPr sz="1418">
              <a:solidFill>
                <a:schemeClr val="lt1"/>
              </a:solidFill>
              <a:latin typeface="Plus Jakarta Sans"/>
              <a:ea typeface="Plus Jakarta Sans"/>
              <a:cs typeface="Plus Jakarta Sans"/>
              <a:sym typeface="Plus Jakarta Sans"/>
            </a:endParaRPr>
          </a:p>
        </p:txBody>
      </p:sp>
      <p:sp>
        <p:nvSpPr>
          <p:cNvPr id="26" name="Google Shape;26;p16"/>
          <p:cNvSpPr>
            <a:spLocks noGrp="1"/>
          </p:cNvSpPr>
          <p:nvPr>
            <p:ph type="pic" idx="2"/>
          </p:nvPr>
        </p:nvSpPr>
        <p:spPr>
          <a:xfrm>
            <a:off x="5368171" y="2367705"/>
            <a:ext cx="1875056" cy="5556945"/>
          </a:xfrm>
          <a:prstGeom prst="rect">
            <a:avLst/>
          </a:prstGeom>
          <a:solidFill>
            <a:srgbClr val="F2F2F2"/>
          </a:solidFill>
          <a:ln>
            <a:noFill/>
          </a:ln>
        </p:spPr>
      </p:sp>
      <p:sp>
        <p:nvSpPr>
          <p:cNvPr id="27" name="Google Shape;27;p16"/>
          <p:cNvSpPr>
            <a:spLocks noGrp="1"/>
          </p:cNvSpPr>
          <p:nvPr>
            <p:ph type="pic" idx="3"/>
          </p:nvPr>
        </p:nvSpPr>
        <p:spPr>
          <a:xfrm>
            <a:off x="7462362" y="2367705"/>
            <a:ext cx="1875056" cy="555694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3_Title Slide">
  <p:cSld name="33_Title Slide">
    <p:spTree>
      <p:nvGrpSpPr>
        <p:cNvPr id="1" name="Shape 28"/>
        <p:cNvGrpSpPr/>
        <p:nvPr/>
      </p:nvGrpSpPr>
      <p:grpSpPr>
        <a:xfrm>
          <a:off x="0" y="0"/>
          <a:ext cx="0" cy="0"/>
          <a:chOff x="0" y="0"/>
          <a:chExt cx="0" cy="0"/>
        </a:xfrm>
      </p:grpSpPr>
      <p:sp>
        <p:nvSpPr>
          <p:cNvPr id="29" name="Google Shape;29;p17"/>
          <p:cNvSpPr>
            <a:spLocks noGrp="1"/>
          </p:cNvSpPr>
          <p:nvPr>
            <p:ph type="pic" idx="2"/>
          </p:nvPr>
        </p:nvSpPr>
        <p:spPr>
          <a:xfrm>
            <a:off x="-1" y="1025312"/>
            <a:ext cx="3933627" cy="10750973"/>
          </a:xfrm>
          <a:prstGeom prst="rect">
            <a:avLst/>
          </a:prstGeom>
          <a:solidFill>
            <a:srgbClr val="F2F2F2"/>
          </a:solid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4_Title Slide">
  <p:cSld name="34_Title Slide">
    <p:spTree>
      <p:nvGrpSpPr>
        <p:cNvPr id="1" name="Shape 30"/>
        <p:cNvGrpSpPr/>
        <p:nvPr/>
      </p:nvGrpSpPr>
      <p:grpSpPr>
        <a:xfrm>
          <a:off x="0" y="0"/>
          <a:ext cx="0" cy="0"/>
          <a:chOff x="0" y="0"/>
          <a:chExt cx="0" cy="0"/>
        </a:xfrm>
      </p:grpSpPr>
      <p:sp>
        <p:nvSpPr>
          <p:cNvPr id="31" name="Google Shape;31;p18"/>
          <p:cNvSpPr>
            <a:spLocks noGrp="1"/>
          </p:cNvSpPr>
          <p:nvPr>
            <p:ph type="pic" idx="2"/>
          </p:nvPr>
        </p:nvSpPr>
        <p:spPr>
          <a:xfrm>
            <a:off x="4800600" y="2370667"/>
            <a:ext cx="4800601" cy="8063231"/>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E4C9"/>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103"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4032" userDrawn="1">
          <p15:clr>
            <a:srgbClr val="A4A3A4"/>
          </p15:clr>
        </p15:guide>
        <p15:guide id="2" pos="3024" userDrawn="1">
          <p15:clr>
            <a:srgbClr val="A4A3A4"/>
          </p15:clr>
        </p15:guide>
        <p15:guide id="3" orient="horz" pos="1491" userDrawn="1">
          <p15:clr>
            <a:srgbClr val="A4A3A4"/>
          </p15:clr>
        </p15:guide>
        <p15:guide id="4" orient="horz" pos="646" userDrawn="1">
          <p15:clr>
            <a:srgbClr val="A4A3A4"/>
          </p15:clr>
        </p15:guide>
        <p15:guide id="5" orient="horz" pos="2339" userDrawn="1">
          <p15:clr>
            <a:srgbClr val="A4A3A4"/>
          </p15:clr>
        </p15:guide>
        <p15:guide id="6" orient="horz" pos="3185" userDrawn="1">
          <p15:clr>
            <a:srgbClr val="A4A3A4"/>
          </p15:clr>
        </p15:guide>
        <p15:guide id="7" orient="horz" pos="4879" userDrawn="1">
          <p15:clr>
            <a:srgbClr val="A4A3A4"/>
          </p15:clr>
        </p15:guide>
        <p15:guide id="8" orient="horz" pos="5725" userDrawn="1">
          <p15:clr>
            <a:srgbClr val="A4A3A4"/>
          </p15:clr>
        </p15:guide>
        <p15:guide id="9" orient="horz" pos="6573" userDrawn="1">
          <p15:clr>
            <a:srgbClr val="A4A3A4"/>
          </p15:clr>
        </p15:guide>
        <p15:guide id="10" orient="horz" pos="7418" userDrawn="1">
          <p15:clr>
            <a:srgbClr val="A4A3A4"/>
          </p15:clr>
        </p15:guide>
        <p15:guide id="11" pos="3382" userDrawn="1">
          <p15:clr>
            <a:srgbClr val="A4A3A4"/>
          </p15:clr>
        </p15:guide>
        <p15:guide id="12" pos="3738" userDrawn="1">
          <p15:clr>
            <a:srgbClr val="A4A3A4"/>
          </p15:clr>
        </p15:guide>
        <p15:guide id="13" pos="166" userDrawn="1">
          <p15:clr>
            <a:srgbClr val="A4A3A4"/>
          </p15:clr>
        </p15:guide>
        <p15:guide id="14" pos="524" userDrawn="1">
          <p15:clr>
            <a:srgbClr val="A4A3A4"/>
          </p15:clr>
        </p15:guide>
        <p15:guide id="15" pos="880" userDrawn="1">
          <p15:clr>
            <a:srgbClr val="A4A3A4"/>
          </p15:clr>
        </p15:guide>
        <p15:guide id="16" pos="1238" userDrawn="1">
          <p15:clr>
            <a:srgbClr val="A4A3A4"/>
          </p15:clr>
        </p15:guide>
        <p15:guide id="17" pos="1595" userDrawn="1">
          <p15:clr>
            <a:srgbClr val="A4A3A4"/>
          </p15:clr>
        </p15:guide>
        <p15:guide id="18" pos="1952" userDrawn="1">
          <p15:clr>
            <a:srgbClr val="A4A3A4"/>
          </p15:clr>
        </p15:guide>
        <p15:guide id="19" pos="2310" userDrawn="1">
          <p15:clr>
            <a:srgbClr val="A4A3A4"/>
          </p15:clr>
        </p15:guide>
        <p15:guide id="20" pos="2666" userDrawn="1">
          <p15:clr>
            <a:srgbClr val="A4A3A4"/>
          </p15:clr>
        </p15:guide>
        <p15:guide id="21" pos="4096" userDrawn="1">
          <p15:clr>
            <a:srgbClr val="A4A3A4"/>
          </p15:clr>
        </p15:guide>
        <p15:guide id="22" pos="4453" userDrawn="1">
          <p15:clr>
            <a:srgbClr val="A4A3A4"/>
          </p15:clr>
        </p15:guide>
        <p15:guide id="23" pos="4810" userDrawn="1">
          <p15:clr>
            <a:srgbClr val="A4A3A4"/>
          </p15:clr>
        </p15:guide>
        <p15:guide id="24" pos="5168" userDrawn="1">
          <p15:clr>
            <a:srgbClr val="A4A3A4"/>
          </p15:clr>
        </p15:guide>
        <p15:guide id="25" pos="5524" userDrawn="1">
          <p15:clr>
            <a:srgbClr val="A4A3A4"/>
          </p15:clr>
        </p15:guide>
        <p15:guide id="26" pos="5882" userDrawn="1">
          <p15:clr>
            <a:srgbClr val="A4A3A4"/>
          </p15:clr>
        </p15:guide>
        <p15:guide id="27" pos="273" userDrawn="1">
          <p15:clr>
            <a:srgbClr val="F26B43"/>
          </p15:clr>
        </p15:guide>
        <p15:guide id="28" pos="577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102996" y="185316"/>
            <a:ext cx="8474076" cy="688234"/>
          </a:xfrm>
          <a:prstGeom prst="rect">
            <a:avLst/>
          </a:prstGeom>
          <a:noFill/>
          <a:ln>
            <a:noFill/>
          </a:ln>
        </p:spPr>
        <p:txBody>
          <a:bodyPr spcFirstLastPara="1" wrap="square" lIns="71997" tIns="35989" rIns="71997" bIns="35989" anchor="t" anchorCtr="0">
            <a:spAutoFit/>
          </a:bodyPr>
          <a:lstStyle/>
          <a:p>
            <a:r>
              <a:rPr lang="en-IN" sz="2000" dirty="0">
                <a:latin typeface="Inter"/>
                <a:ea typeface="Inter"/>
                <a:cs typeface="Inter"/>
                <a:sym typeface="Inter"/>
              </a:rPr>
              <a:t>Proposed </a:t>
            </a:r>
            <a:r>
              <a:rPr lang="en-IN" sz="2000" dirty="0" err="1">
                <a:latin typeface="Inter"/>
                <a:ea typeface="Inter"/>
                <a:cs typeface="Inter"/>
                <a:sym typeface="Inter"/>
              </a:rPr>
              <a:t>Multimodel</a:t>
            </a:r>
            <a:r>
              <a:rPr lang="en-IN" sz="2000" dirty="0">
                <a:latin typeface="Inter"/>
                <a:ea typeface="Inter"/>
                <a:cs typeface="Inter"/>
                <a:sym typeface="Inter"/>
              </a:rPr>
              <a:t> Explainable AI Techniques for Brain </a:t>
            </a:r>
            <a:r>
              <a:rPr lang="en-IN" sz="2000" dirty="0" err="1">
                <a:latin typeface="Inter"/>
                <a:ea typeface="Inter"/>
                <a:cs typeface="Inter"/>
                <a:sym typeface="Inter"/>
              </a:rPr>
              <a:t>Tumor</a:t>
            </a:r>
            <a:r>
              <a:rPr lang="en-IN" sz="2000" dirty="0">
                <a:latin typeface="Inter"/>
                <a:ea typeface="Inter"/>
                <a:cs typeface="Inter"/>
                <a:sym typeface="Inter"/>
              </a:rPr>
              <a:t> Classification</a:t>
            </a:r>
            <a:endParaRPr sz="2000" dirty="0">
              <a:latin typeface="Inter"/>
              <a:ea typeface="Inter"/>
              <a:cs typeface="Inter"/>
              <a:sym typeface="Inter"/>
            </a:endParaRPr>
          </a:p>
        </p:txBody>
      </p:sp>
      <p:grpSp>
        <p:nvGrpSpPr>
          <p:cNvPr id="37" name="Google Shape;37;p1"/>
          <p:cNvGrpSpPr/>
          <p:nvPr/>
        </p:nvGrpSpPr>
        <p:grpSpPr>
          <a:xfrm>
            <a:off x="168110" y="113898"/>
            <a:ext cx="8130069" cy="778445"/>
            <a:chOff x="894442" y="2675335"/>
            <a:chExt cx="7570108" cy="940767"/>
          </a:xfrm>
        </p:grpSpPr>
        <p:sp>
          <p:nvSpPr>
            <p:cNvPr id="38" name="Google Shape;38;p1"/>
            <p:cNvSpPr/>
            <p:nvPr/>
          </p:nvSpPr>
          <p:spPr>
            <a:xfrm>
              <a:off x="894442" y="2675335"/>
              <a:ext cx="7570108" cy="45719"/>
            </a:xfrm>
            <a:prstGeom prst="rect">
              <a:avLst/>
            </a:prstGeom>
            <a:solidFill>
              <a:srgbClr val="A58255"/>
            </a:solidFill>
            <a:ln>
              <a:noFill/>
            </a:ln>
          </p:spPr>
          <p:txBody>
            <a:bodyPr spcFirstLastPara="1" wrap="square" lIns="71997" tIns="35989" rIns="71997" bIns="35989" anchor="ctr" anchorCtr="0">
              <a:noAutofit/>
            </a:bodyPr>
            <a:lstStyle/>
            <a:p>
              <a:pPr algn="ctr"/>
              <a:endParaRPr sz="1418">
                <a:solidFill>
                  <a:schemeClr val="lt1"/>
                </a:solidFill>
                <a:latin typeface="Inter"/>
                <a:ea typeface="Inter"/>
                <a:cs typeface="Inter"/>
                <a:sym typeface="Inter"/>
              </a:endParaRPr>
            </a:p>
          </p:txBody>
        </p:sp>
        <p:sp>
          <p:nvSpPr>
            <p:cNvPr id="39" name="Google Shape;39;p1"/>
            <p:cNvSpPr/>
            <p:nvPr/>
          </p:nvSpPr>
          <p:spPr>
            <a:xfrm>
              <a:off x="894442" y="3570383"/>
              <a:ext cx="7570108" cy="45719"/>
            </a:xfrm>
            <a:prstGeom prst="rect">
              <a:avLst/>
            </a:prstGeom>
            <a:solidFill>
              <a:srgbClr val="A58255"/>
            </a:solidFill>
            <a:ln>
              <a:noFill/>
            </a:ln>
          </p:spPr>
          <p:txBody>
            <a:bodyPr spcFirstLastPara="1" wrap="square" lIns="71997" tIns="35989" rIns="71997" bIns="35989" anchor="ctr" anchorCtr="0">
              <a:noAutofit/>
            </a:bodyPr>
            <a:lstStyle/>
            <a:p>
              <a:pPr algn="ctr"/>
              <a:endParaRPr sz="1418">
                <a:solidFill>
                  <a:schemeClr val="lt1"/>
                </a:solidFill>
                <a:latin typeface="Inter"/>
                <a:ea typeface="Inter"/>
                <a:cs typeface="Inter"/>
                <a:sym typeface="Inter"/>
              </a:endParaRPr>
            </a:p>
          </p:txBody>
        </p:sp>
      </p:grpSp>
      <p:sp>
        <p:nvSpPr>
          <p:cNvPr id="40" name="Google Shape;40;p1"/>
          <p:cNvSpPr txBox="1"/>
          <p:nvPr/>
        </p:nvSpPr>
        <p:spPr>
          <a:xfrm>
            <a:off x="102996" y="896156"/>
            <a:ext cx="6670714" cy="257347"/>
          </a:xfrm>
          <a:prstGeom prst="rect">
            <a:avLst/>
          </a:prstGeom>
          <a:noFill/>
          <a:ln>
            <a:noFill/>
          </a:ln>
        </p:spPr>
        <p:txBody>
          <a:bodyPr spcFirstLastPara="1" wrap="square" lIns="71997" tIns="35989" rIns="71997" bIns="35989" anchor="t" anchorCtr="0">
            <a:spAutoFit/>
          </a:bodyPr>
          <a:lstStyle/>
          <a:p>
            <a:r>
              <a:rPr lang="en-IN" sz="1200" dirty="0">
                <a:latin typeface="Inter"/>
                <a:ea typeface="Inter"/>
                <a:cs typeface="Inter"/>
                <a:sym typeface="Inter"/>
              </a:rPr>
              <a:t>AKSHAT VASHISTH, MANIKONDA SATYA VARDHAN, MUPPASANI SHRUTHIKKA</a:t>
            </a:r>
            <a:endParaRPr sz="1200" dirty="0">
              <a:latin typeface="Inter"/>
              <a:ea typeface="Inter"/>
              <a:cs typeface="Inter"/>
              <a:sym typeface="Inter"/>
            </a:endParaRPr>
          </a:p>
        </p:txBody>
      </p:sp>
      <p:sp>
        <p:nvSpPr>
          <p:cNvPr id="10" name="Google Shape;10;p6"/>
          <p:cNvSpPr txBox="1"/>
          <p:nvPr/>
        </p:nvSpPr>
        <p:spPr>
          <a:xfrm>
            <a:off x="0" y="12528864"/>
            <a:ext cx="7959889" cy="272736"/>
          </a:xfrm>
          <a:prstGeom prst="rect">
            <a:avLst/>
          </a:prstGeom>
          <a:noFill/>
          <a:ln>
            <a:noFill/>
          </a:ln>
        </p:spPr>
        <p:txBody>
          <a:bodyPr spcFirstLastPara="1" wrap="square" lIns="71997" tIns="35989" rIns="71997" bIns="35989" anchor="t" anchorCtr="0">
            <a:spAutoFit/>
          </a:bodyPr>
          <a:lstStyle/>
          <a:p>
            <a:pPr>
              <a:buClr>
                <a:srgbClr val="7F7F7F"/>
              </a:buClr>
              <a:buSzPts val="1800"/>
            </a:pPr>
            <a:r>
              <a:rPr lang="en-US" sz="1300" dirty="0">
                <a:solidFill>
                  <a:srgbClr val="7F7F7F"/>
                </a:solidFill>
                <a:latin typeface="Inter" panose="020B0604020202020204" charset="0"/>
                <a:ea typeface="Inter" panose="020B0604020202020204" charset="0"/>
                <a:cs typeface="Open Sans"/>
                <a:sym typeface="Open Sans"/>
              </a:rPr>
              <a:t>Department of Artificial Intelligence and Data Science, GSCSE, Visakhapatnam</a:t>
            </a:r>
          </a:p>
        </p:txBody>
      </p:sp>
      <p:pic>
        <p:nvPicPr>
          <p:cNvPr id="11" name="Google Shape;11;p6"/>
          <p:cNvPicPr preferRelativeResize="0"/>
          <p:nvPr/>
        </p:nvPicPr>
        <p:blipFill rotWithShape="1">
          <a:blip r:embed="rId3">
            <a:alphaModFix/>
          </a:blip>
          <a:srcRect/>
          <a:stretch/>
        </p:blipFill>
        <p:spPr>
          <a:xfrm>
            <a:off x="8235823" y="226666"/>
            <a:ext cx="1262381" cy="574137"/>
          </a:xfrm>
          <a:prstGeom prst="rect">
            <a:avLst/>
          </a:prstGeom>
          <a:noFill/>
          <a:ln>
            <a:noFill/>
          </a:ln>
        </p:spPr>
      </p:pic>
      <p:sp>
        <p:nvSpPr>
          <p:cNvPr id="2" name="Google Shape;40;p1">
            <a:extLst>
              <a:ext uri="{FF2B5EF4-FFF2-40B4-BE49-F238E27FC236}">
                <a16:creationId xmlns:a16="http://schemas.microsoft.com/office/drawing/2014/main" id="{67B14CDF-2335-5CC7-06B9-A671E2CD1B3D}"/>
              </a:ext>
            </a:extLst>
          </p:cNvPr>
          <p:cNvSpPr txBox="1"/>
          <p:nvPr/>
        </p:nvSpPr>
        <p:spPr>
          <a:xfrm>
            <a:off x="102996" y="1073057"/>
            <a:ext cx="3194752" cy="257347"/>
          </a:xfrm>
          <a:prstGeom prst="rect">
            <a:avLst/>
          </a:prstGeom>
          <a:noFill/>
          <a:ln>
            <a:noFill/>
          </a:ln>
        </p:spPr>
        <p:txBody>
          <a:bodyPr spcFirstLastPara="1" wrap="square" lIns="71997" tIns="35989" rIns="71997" bIns="35989" anchor="t" anchorCtr="0">
            <a:spAutoFit/>
          </a:bodyPr>
          <a:lstStyle/>
          <a:p>
            <a:r>
              <a:rPr lang="en-US" sz="1200" dirty="0">
                <a:solidFill>
                  <a:schemeClr val="tx1"/>
                </a:solidFill>
                <a:latin typeface="Inter"/>
                <a:ea typeface="Inter"/>
                <a:cs typeface="Inter"/>
                <a:sym typeface="Inter"/>
              </a:rPr>
              <a:t>Dr. MILAN KUMAR DHOLEY</a:t>
            </a:r>
            <a:endParaRPr sz="1200" dirty="0">
              <a:solidFill>
                <a:schemeClr val="tx1"/>
              </a:solidFill>
              <a:latin typeface="Inter"/>
              <a:ea typeface="Inter"/>
              <a:cs typeface="Inter"/>
              <a:sym typeface="Inter"/>
            </a:endParaRPr>
          </a:p>
        </p:txBody>
      </p:sp>
      <p:sp>
        <p:nvSpPr>
          <p:cNvPr id="4" name="TextBox 3">
            <a:extLst>
              <a:ext uri="{FF2B5EF4-FFF2-40B4-BE49-F238E27FC236}">
                <a16:creationId xmlns:a16="http://schemas.microsoft.com/office/drawing/2014/main" id="{5A8D4303-B808-6D72-7EC1-41A275B07B28}"/>
              </a:ext>
            </a:extLst>
          </p:cNvPr>
          <p:cNvSpPr txBox="1"/>
          <p:nvPr/>
        </p:nvSpPr>
        <p:spPr>
          <a:xfrm>
            <a:off x="167976" y="1317188"/>
            <a:ext cx="4977175" cy="307777"/>
          </a:xfrm>
          <a:prstGeom prst="rect">
            <a:avLst/>
          </a:prstGeom>
          <a:solidFill>
            <a:srgbClr val="A58255"/>
          </a:solidFill>
        </p:spPr>
        <p:txBody>
          <a:bodyPr wrap="square">
            <a:spAutoFit/>
          </a:bodyPr>
          <a:lstStyle/>
          <a:p>
            <a:pPr rtl="0">
              <a:spcBef>
                <a:spcPts val="0"/>
              </a:spcBef>
              <a:spcAft>
                <a:spcPts val="0"/>
              </a:spcAft>
            </a:pPr>
            <a:r>
              <a:rPr lang="en-IN" sz="1400" b="1" i="0" u="none" strike="noStrike" dirty="0">
                <a:solidFill>
                  <a:schemeClr val="bg1"/>
                </a:solidFill>
                <a:effectLst/>
                <a:latin typeface="Inter" panose="020B0604020202020204" charset="0"/>
              </a:rPr>
              <a:t>Introduction</a:t>
            </a:r>
            <a:endParaRPr lang="en-IN" b="0" dirty="0">
              <a:solidFill>
                <a:schemeClr val="bg1"/>
              </a:solidFill>
              <a:effectLst/>
            </a:endParaRPr>
          </a:p>
        </p:txBody>
      </p:sp>
      <p:sp>
        <p:nvSpPr>
          <p:cNvPr id="5" name="TextBox 4">
            <a:extLst>
              <a:ext uri="{FF2B5EF4-FFF2-40B4-BE49-F238E27FC236}">
                <a16:creationId xmlns:a16="http://schemas.microsoft.com/office/drawing/2014/main" id="{00ABFA7C-2C1F-6058-A3A7-449112B8110F}"/>
              </a:ext>
            </a:extLst>
          </p:cNvPr>
          <p:cNvSpPr txBox="1"/>
          <p:nvPr/>
        </p:nvSpPr>
        <p:spPr>
          <a:xfrm>
            <a:off x="167985" y="5157546"/>
            <a:ext cx="4977172" cy="307777"/>
          </a:xfrm>
          <a:prstGeom prst="rect">
            <a:avLst/>
          </a:prstGeom>
          <a:solidFill>
            <a:srgbClr val="A58255"/>
          </a:solidFill>
        </p:spPr>
        <p:txBody>
          <a:bodyPr wrap="square">
            <a:spAutoFit/>
          </a:bodyPr>
          <a:lstStyle/>
          <a:p>
            <a:r>
              <a:rPr lang="en-IN" b="1" dirty="0">
                <a:solidFill>
                  <a:schemeClr val="bg1"/>
                </a:solidFill>
                <a:latin typeface="Inter" panose="020B0604020202020204" charset="0"/>
              </a:rPr>
              <a:t>Literature Review</a:t>
            </a:r>
            <a:endParaRPr lang="en-IN" dirty="0">
              <a:solidFill>
                <a:schemeClr val="bg1"/>
              </a:solidFill>
            </a:endParaRPr>
          </a:p>
        </p:txBody>
      </p:sp>
      <p:sp>
        <p:nvSpPr>
          <p:cNvPr id="6" name="TextBox 5">
            <a:extLst>
              <a:ext uri="{FF2B5EF4-FFF2-40B4-BE49-F238E27FC236}">
                <a16:creationId xmlns:a16="http://schemas.microsoft.com/office/drawing/2014/main" id="{52851974-E5B7-2CE6-48CC-144A45C063EE}"/>
              </a:ext>
            </a:extLst>
          </p:cNvPr>
          <p:cNvSpPr txBox="1"/>
          <p:nvPr/>
        </p:nvSpPr>
        <p:spPr>
          <a:xfrm>
            <a:off x="167979" y="8773857"/>
            <a:ext cx="4977174" cy="307777"/>
          </a:xfrm>
          <a:prstGeom prst="rect">
            <a:avLst/>
          </a:prstGeom>
          <a:solidFill>
            <a:srgbClr val="A58255"/>
          </a:solidFill>
        </p:spPr>
        <p:txBody>
          <a:bodyPr wrap="square">
            <a:spAutoFit/>
          </a:bodyPr>
          <a:lstStyle/>
          <a:p>
            <a:r>
              <a:rPr lang="en-US" b="1" dirty="0">
                <a:solidFill>
                  <a:schemeClr val="bg1"/>
                </a:solidFill>
                <a:latin typeface="Inter" panose="020B0604020202020204" charset="0"/>
              </a:rPr>
              <a:t>R</a:t>
            </a:r>
            <a:r>
              <a:rPr lang="en-IN" b="1" dirty="0" err="1">
                <a:solidFill>
                  <a:schemeClr val="bg1"/>
                </a:solidFill>
                <a:latin typeface="Inter" panose="020B0604020202020204" charset="0"/>
              </a:rPr>
              <a:t>esearch</a:t>
            </a:r>
            <a:r>
              <a:rPr lang="en-IN" b="1" dirty="0">
                <a:solidFill>
                  <a:schemeClr val="bg1"/>
                </a:solidFill>
                <a:latin typeface="Inter" panose="020B0604020202020204" charset="0"/>
              </a:rPr>
              <a:t> Gaps</a:t>
            </a:r>
            <a:endParaRPr lang="en-IN" dirty="0">
              <a:solidFill>
                <a:schemeClr val="bg1"/>
              </a:solidFill>
            </a:endParaRPr>
          </a:p>
        </p:txBody>
      </p:sp>
      <p:sp>
        <p:nvSpPr>
          <p:cNvPr id="7" name="TextBox 6">
            <a:extLst>
              <a:ext uri="{FF2B5EF4-FFF2-40B4-BE49-F238E27FC236}">
                <a16:creationId xmlns:a16="http://schemas.microsoft.com/office/drawing/2014/main" id="{D531B664-2A91-F2F8-E8A9-F2C00A3A34CD}"/>
              </a:ext>
            </a:extLst>
          </p:cNvPr>
          <p:cNvSpPr txBox="1"/>
          <p:nvPr/>
        </p:nvSpPr>
        <p:spPr>
          <a:xfrm>
            <a:off x="5296607" y="1152406"/>
            <a:ext cx="4136481" cy="307777"/>
          </a:xfrm>
          <a:prstGeom prst="rect">
            <a:avLst/>
          </a:prstGeom>
          <a:solidFill>
            <a:srgbClr val="A58255"/>
          </a:solidFill>
        </p:spPr>
        <p:txBody>
          <a:bodyPr wrap="square">
            <a:spAutoFit/>
          </a:bodyPr>
          <a:lstStyle/>
          <a:p>
            <a:r>
              <a:rPr lang="en-IN" b="1" dirty="0">
                <a:solidFill>
                  <a:schemeClr val="bg1"/>
                </a:solidFill>
                <a:latin typeface="Inter" panose="020B0604020202020204" charset="0"/>
              </a:rPr>
              <a:t>Proposed Methodology</a:t>
            </a:r>
            <a:endParaRPr lang="en-IN" dirty="0">
              <a:solidFill>
                <a:schemeClr val="bg1"/>
              </a:solidFill>
            </a:endParaRPr>
          </a:p>
        </p:txBody>
      </p:sp>
      <p:sp>
        <p:nvSpPr>
          <p:cNvPr id="8" name="TextBox 7">
            <a:extLst>
              <a:ext uri="{FF2B5EF4-FFF2-40B4-BE49-F238E27FC236}">
                <a16:creationId xmlns:a16="http://schemas.microsoft.com/office/drawing/2014/main" id="{AA0FD7D1-DC00-534A-A08A-2648589F43D6}"/>
              </a:ext>
            </a:extLst>
          </p:cNvPr>
          <p:cNvSpPr txBox="1"/>
          <p:nvPr/>
        </p:nvSpPr>
        <p:spPr>
          <a:xfrm>
            <a:off x="5296605" y="7697628"/>
            <a:ext cx="4136480" cy="307777"/>
          </a:xfrm>
          <a:prstGeom prst="rect">
            <a:avLst/>
          </a:prstGeom>
          <a:solidFill>
            <a:srgbClr val="A58255"/>
          </a:solidFill>
        </p:spPr>
        <p:txBody>
          <a:bodyPr wrap="square">
            <a:spAutoFit/>
          </a:bodyPr>
          <a:lstStyle/>
          <a:p>
            <a:r>
              <a:rPr lang="en-US" b="1" dirty="0">
                <a:solidFill>
                  <a:schemeClr val="bg1"/>
                </a:solidFill>
              </a:rPr>
              <a:t>Testing &amp; Validation</a:t>
            </a:r>
            <a:endParaRPr lang="en-IN" b="1" dirty="0">
              <a:solidFill>
                <a:schemeClr val="bg1"/>
              </a:solidFill>
              <a:effectLst/>
            </a:endParaRPr>
          </a:p>
        </p:txBody>
      </p:sp>
      <p:sp>
        <p:nvSpPr>
          <p:cNvPr id="9" name="TextBox 8">
            <a:extLst>
              <a:ext uri="{FF2B5EF4-FFF2-40B4-BE49-F238E27FC236}">
                <a16:creationId xmlns:a16="http://schemas.microsoft.com/office/drawing/2014/main" id="{53A8D2F5-177F-5785-AFC3-A2EDC9A3C83C}"/>
              </a:ext>
            </a:extLst>
          </p:cNvPr>
          <p:cNvSpPr txBox="1"/>
          <p:nvPr/>
        </p:nvSpPr>
        <p:spPr>
          <a:xfrm>
            <a:off x="5296605" y="10730542"/>
            <a:ext cx="4136480" cy="307777"/>
          </a:xfrm>
          <a:prstGeom prst="rect">
            <a:avLst/>
          </a:prstGeom>
          <a:solidFill>
            <a:srgbClr val="A58255"/>
          </a:solidFill>
        </p:spPr>
        <p:txBody>
          <a:bodyPr wrap="square">
            <a:spAutoFit/>
          </a:bodyPr>
          <a:lstStyle/>
          <a:p>
            <a:pPr rtl="0">
              <a:spcBef>
                <a:spcPts val="0"/>
              </a:spcBef>
              <a:spcAft>
                <a:spcPts val="0"/>
              </a:spcAft>
            </a:pPr>
            <a:r>
              <a:rPr lang="en-IN" sz="1400" b="1" i="0" u="none" strike="noStrike" dirty="0">
                <a:solidFill>
                  <a:schemeClr val="bg1"/>
                </a:solidFill>
                <a:effectLst/>
                <a:latin typeface="Inter" panose="020B0604020202020204" charset="0"/>
              </a:rPr>
              <a:t>References</a:t>
            </a:r>
            <a:endParaRPr lang="en-IN" b="0" dirty="0">
              <a:solidFill>
                <a:schemeClr val="bg1"/>
              </a:solidFill>
              <a:effectLst/>
            </a:endParaRPr>
          </a:p>
        </p:txBody>
      </p:sp>
      <p:sp>
        <p:nvSpPr>
          <p:cNvPr id="13" name="TextBox 12">
            <a:extLst>
              <a:ext uri="{FF2B5EF4-FFF2-40B4-BE49-F238E27FC236}">
                <a16:creationId xmlns:a16="http://schemas.microsoft.com/office/drawing/2014/main" id="{4CA306FE-10A0-9157-4B8D-1D4A15DC69B8}"/>
              </a:ext>
            </a:extLst>
          </p:cNvPr>
          <p:cNvSpPr txBox="1"/>
          <p:nvPr/>
        </p:nvSpPr>
        <p:spPr>
          <a:xfrm>
            <a:off x="167979" y="1413152"/>
            <a:ext cx="4977178" cy="3681002"/>
          </a:xfrm>
          <a:prstGeom prst="rect">
            <a:avLst/>
          </a:prstGeom>
          <a:noFill/>
          <a:ln>
            <a:solidFill>
              <a:srgbClr val="A58255"/>
            </a:solidFill>
          </a:ln>
        </p:spPr>
        <p:txBody>
          <a:bodyPr wrap="square" rtlCol="0">
            <a:noAutofit/>
          </a:bodyPr>
          <a:lstStyle/>
          <a:p>
            <a:pPr algn="just"/>
            <a:endParaRPr lang="en-US" dirty="0"/>
          </a:p>
          <a:p>
            <a:pPr algn="just"/>
            <a:r>
              <a:rPr lang="en-US" dirty="0"/>
              <a:t>Brain tumor classification is a critical task in medical imaging that plays a vital role in early diagnosis and effective treatment planning. MRI scans are widely used for detecting brain abnormalities; however, manual analysis by radiologists can be time-consuming and prone to variability. With the advancement of deep learning, automated systems have been developed to improve accuracy and efficiency in tumor classification. This project focuses on developing a robust brain tumor classification system using advanced models such as EfficientNetB0, DenseNet121, and </a:t>
            </a:r>
            <a:r>
              <a:rPr lang="en-US" dirty="0" err="1"/>
              <a:t>ProtoPNet</a:t>
            </a:r>
            <a:r>
              <a:rPr lang="en-US" dirty="0"/>
              <a:t>. In addition to classification, the system incorporates tumor localization using image processing techniques to provide visual insights into affected regions. The proposed approach aims to enhance diagnostic accuracy, improve interpretability, and assist medical professionals in making faster and more reliable decisions.</a:t>
            </a:r>
            <a:endParaRPr lang="en-IN" dirty="0"/>
          </a:p>
        </p:txBody>
      </p:sp>
      <p:sp>
        <p:nvSpPr>
          <p:cNvPr id="14" name="TextBox 13">
            <a:extLst>
              <a:ext uri="{FF2B5EF4-FFF2-40B4-BE49-F238E27FC236}">
                <a16:creationId xmlns:a16="http://schemas.microsoft.com/office/drawing/2014/main" id="{63D079A6-E7E3-C042-5F17-907B62763667}"/>
              </a:ext>
            </a:extLst>
          </p:cNvPr>
          <p:cNvSpPr txBox="1"/>
          <p:nvPr/>
        </p:nvSpPr>
        <p:spPr>
          <a:xfrm>
            <a:off x="167981" y="5410213"/>
            <a:ext cx="4977176" cy="3313998"/>
          </a:xfrm>
          <a:prstGeom prst="rect">
            <a:avLst/>
          </a:prstGeom>
          <a:noFill/>
          <a:ln>
            <a:solidFill>
              <a:srgbClr val="A58255"/>
            </a:solidFill>
          </a:ln>
        </p:spPr>
        <p:txBody>
          <a:bodyPr wrap="square" rtlCol="0">
            <a:noAutofit/>
          </a:bodyPr>
          <a:lstStyle/>
          <a:p>
            <a:pPr algn="just"/>
            <a:r>
              <a:rPr lang="en-US" dirty="0"/>
              <a:t>[1] S. Majdi, "Brain tumor classification using </a:t>
            </a:r>
            <a:r>
              <a:rPr lang="en-US" dirty="0" err="1"/>
              <a:t>DenseNet</a:t>
            </a:r>
            <a:r>
              <a:rPr lang="en-US" dirty="0"/>
              <a:t> and </a:t>
            </a:r>
            <a:r>
              <a:rPr lang="en-US" dirty="0" err="1"/>
              <a:t>EfficientNet</a:t>
            </a:r>
            <a:r>
              <a:rPr lang="en-US" dirty="0"/>
              <a:t>: A comparative study," </a:t>
            </a:r>
            <a:r>
              <a:rPr lang="en-US" dirty="0" err="1"/>
              <a:t>Comput</a:t>
            </a:r>
            <a:r>
              <a:rPr lang="en-US" dirty="0"/>
              <a:t>. Methods Programs Biomed., IEEE vol. 237, p. 107567, 2024.</a:t>
            </a:r>
          </a:p>
          <a:p>
            <a:pPr algn="just"/>
            <a:r>
              <a:rPr lang="en-US" dirty="0"/>
              <a:t>[2] M. J. Islam and Y. Zhang, "Brain tumor classification using MRI images and deep learning techniques," </a:t>
            </a:r>
            <a:r>
              <a:rPr lang="en-US" i="1" dirty="0"/>
              <a:t>PLOS ONE</a:t>
            </a:r>
            <a:r>
              <a:rPr lang="en-US" dirty="0"/>
              <a:t>, IEEE vol. 19, no. 5, p. e0301234, 2024.</a:t>
            </a:r>
          </a:p>
          <a:p>
            <a:pPr algn="just"/>
            <a:r>
              <a:rPr lang="en-IN" dirty="0"/>
              <a:t>[3] A. Iqbal et al., “Enhancing brain tumour multi-classification using EfficientNet-B0 architecture,” </a:t>
            </a:r>
            <a:r>
              <a:rPr lang="en-IN" i="1" dirty="0"/>
              <a:t>Information</a:t>
            </a:r>
            <a:r>
              <a:rPr lang="en-IN" dirty="0"/>
              <a:t>, </a:t>
            </a:r>
            <a:r>
              <a:rPr lang="en-US" i="1" dirty="0" err="1"/>
              <a:t>arXiv</a:t>
            </a:r>
            <a:r>
              <a:rPr lang="en-IN" dirty="0"/>
              <a:t> vol. 15, no. 8, 2024. </a:t>
            </a:r>
          </a:p>
          <a:p>
            <a:pPr algn="just"/>
            <a:r>
              <a:rPr lang="en-US" dirty="0"/>
              <a:t>[4] Y. Chen, J. Li, and C.-J. Hsieh, "This looks like that: Deep learning with prototypes," in </a:t>
            </a:r>
            <a:r>
              <a:rPr lang="en-US" i="1" dirty="0"/>
              <a:t>Proc. </a:t>
            </a:r>
            <a:r>
              <a:rPr lang="en-US" i="1" dirty="0" err="1"/>
              <a:t>NeurIPS</a:t>
            </a:r>
            <a:r>
              <a:rPr lang="en-US" dirty="0"/>
              <a:t>, 2019, pp. 13963–13974.</a:t>
            </a:r>
          </a:p>
          <a:p>
            <a:pPr algn="just"/>
            <a:r>
              <a:rPr lang="en-US" dirty="0"/>
              <a:t>[5] M. Tan and Q. Le, "</a:t>
            </a:r>
            <a:r>
              <a:rPr lang="en-US" dirty="0" err="1"/>
              <a:t>EfficientNet</a:t>
            </a:r>
            <a:r>
              <a:rPr lang="en-US" dirty="0"/>
              <a:t>: Rethinking model scaling for convolutional neural networks," </a:t>
            </a:r>
            <a:r>
              <a:rPr lang="en-US" i="1" dirty="0" err="1"/>
              <a:t>arXiv</a:t>
            </a:r>
            <a:r>
              <a:rPr lang="en-US" i="1" dirty="0"/>
              <a:t> preprint arXiv:1905.11946</a:t>
            </a:r>
            <a:r>
              <a:rPr lang="en-US" dirty="0"/>
              <a:t>, 2019.</a:t>
            </a:r>
            <a:endParaRPr lang="en-IN" dirty="0"/>
          </a:p>
        </p:txBody>
      </p:sp>
      <p:sp>
        <p:nvSpPr>
          <p:cNvPr id="15" name="TextBox 14">
            <a:extLst>
              <a:ext uri="{FF2B5EF4-FFF2-40B4-BE49-F238E27FC236}">
                <a16:creationId xmlns:a16="http://schemas.microsoft.com/office/drawing/2014/main" id="{8BA88C70-337A-5527-7D00-1C52F65DC333}"/>
              </a:ext>
            </a:extLst>
          </p:cNvPr>
          <p:cNvSpPr txBox="1"/>
          <p:nvPr/>
        </p:nvSpPr>
        <p:spPr>
          <a:xfrm>
            <a:off x="167978" y="9040270"/>
            <a:ext cx="4977175" cy="1398792"/>
          </a:xfrm>
          <a:prstGeom prst="rect">
            <a:avLst/>
          </a:prstGeom>
          <a:noFill/>
          <a:ln>
            <a:solidFill>
              <a:srgbClr val="A58255"/>
            </a:solidFill>
          </a:ln>
        </p:spPr>
        <p:txBody>
          <a:bodyPr wrap="square" rtlCol="0">
            <a:noAutofit/>
          </a:bodyPr>
          <a:lstStyle/>
          <a:p>
            <a:pPr algn="just"/>
            <a:r>
              <a:rPr lang="en-IN" dirty="0"/>
              <a:t>1. The e</a:t>
            </a:r>
            <a:r>
              <a:rPr lang="en-US" dirty="0" err="1"/>
              <a:t>xisting</a:t>
            </a:r>
            <a:r>
              <a:rPr lang="en-US" dirty="0"/>
              <a:t> system relies on single-model classification and lacks ensemble learning for improved accuracy.</a:t>
            </a:r>
          </a:p>
          <a:p>
            <a:pPr algn="just"/>
            <a:r>
              <a:rPr lang="en-IN" dirty="0"/>
              <a:t>2. The existing approach lacks </a:t>
            </a:r>
            <a:r>
              <a:rPr lang="en-US" dirty="0"/>
              <a:t>interpretability and do not explain which image regions influence predictions.</a:t>
            </a:r>
          </a:p>
          <a:p>
            <a:pPr algn="just"/>
            <a:r>
              <a:rPr lang="en-US" dirty="0"/>
              <a:t>3. The existing system does not provide tumor localization after classification.</a:t>
            </a:r>
            <a:r>
              <a:rPr lang="en-IN" dirty="0"/>
              <a:t> </a:t>
            </a:r>
          </a:p>
        </p:txBody>
      </p:sp>
      <p:sp>
        <p:nvSpPr>
          <p:cNvPr id="16" name="TextBox 15">
            <a:extLst>
              <a:ext uri="{FF2B5EF4-FFF2-40B4-BE49-F238E27FC236}">
                <a16:creationId xmlns:a16="http://schemas.microsoft.com/office/drawing/2014/main" id="{9E9A5E9D-0554-E5EC-DACF-B3BB0EAABD36}"/>
              </a:ext>
            </a:extLst>
          </p:cNvPr>
          <p:cNvSpPr txBox="1"/>
          <p:nvPr/>
        </p:nvSpPr>
        <p:spPr>
          <a:xfrm>
            <a:off x="5296605" y="1413152"/>
            <a:ext cx="4136480" cy="3268511"/>
          </a:xfrm>
          <a:prstGeom prst="rect">
            <a:avLst/>
          </a:prstGeom>
          <a:noFill/>
          <a:ln>
            <a:solidFill>
              <a:srgbClr val="A58255"/>
            </a:solidFill>
          </a:ln>
        </p:spPr>
        <p:txBody>
          <a:bodyPr wrap="square" rtlCol="0">
            <a:noAutofit/>
          </a:bodyPr>
          <a:lstStyle/>
          <a:p>
            <a:pPr algn="just"/>
            <a:r>
              <a:rPr lang="en-US" dirty="0"/>
              <a:t>The proposed methodology follows a structured pipeline for brain tumor classification and localization of the MRI images. The input images are fed into advanced deep learning models such as EfficientNetB0 and DenseNet121 for feature extraction and classification using transfer learning, while </a:t>
            </a:r>
            <a:r>
              <a:rPr lang="en-US" dirty="0" err="1"/>
              <a:t>ProtoPNet</a:t>
            </a:r>
            <a:r>
              <a:rPr lang="en-US" dirty="0"/>
              <a:t> model is used to provide interpretability of predictions. A voting-based ensemble approach is applied to combine the outputs of all models and improve overall accuracy and reliability. Finally, tumor localization is performed using traditional OpenCV-based image processing techniques, including thresholding and contour detection, to identify and highlight tumor regions within the MRI images.</a:t>
            </a:r>
          </a:p>
          <a:p>
            <a:pPr algn="just"/>
            <a:endParaRPr lang="en-US" dirty="0"/>
          </a:p>
        </p:txBody>
      </p:sp>
      <p:sp>
        <p:nvSpPr>
          <p:cNvPr id="17" name="TextBox 16">
            <a:extLst>
              <a:ext uri="{FF2B5EF4-FFF2-40B4-BE49-F238E27FC236}">
                <a16:creationId xmlns:a16="http://schemas.microsoft.com/office/drawing/2014/main" id="{C96AE017-038F-C4E1-5D45-046E81A085D9}"/>
              </a:ext>
            </a:extLst>
          </p:cNvPr>
          <p:cNvSpPr txBox="1"/>
          <p:nvPr/>
        </p:nvSpPr>
        <p:spPr>
          <a:xfrm>
            <a:off x="5296605" y="7975606"/>
            <a:ext cx="4136480" cy="2663556"/>
          </a:xfrm>
          <a:prstGeom prst="rect">
            <a:avLst/>
          </a:prstGeom>
          <a:noFill/>
          <a:ln>
            <a:solidFill>
              <a:srgbClr val="A58255"/>
            </a:solidFill>
          </a:ln>
        </p:spPr>
        <p:txBody>
          <a:bodyPr wrap="square" rtlCol="0">
            <a:noAutofit/>
          </a:bodyPr>
          <a:lstStyle/>
          <a:p>
            <a:pPr algn="just"/>
            <a:r>
              <a:rPr lang="en-US" dirty="0"/>
              <a:t>1. EfficientNetB0 achieved 90.74% accuracy with 90.93% precision and 90.47% recall during training and during testing it achieved an accuracy of 87.26%.</a:t>
            </a:r>
          </a:p>
          <a:p>
            <a:pPr algn="just"/>
            <a:r>
              <a:rPr lang="en-IN" dirty="0"/>
              <a:t>2. </a:t>
            </a:r>
            <a:r>
              <a:rPr lang="en-US" dirty="0"/>
              <a:t>DenseNet121 achieved 80.95% accuracy with 82.78% precision and 78.87% recall during training, and  during testing it achieved an accuracy of 83.51%.</a:t>
            </a:r>
          </a:p>
          <a:p>
            <a:pPr algn="just"/>
            <a:r>
              <a:rPr lang="en-US" dirty="0"/>
              <a:t>3. </a:t>
            </a:r>
            <a:r>
              <a:rPr lang="en-US" dirty="0" err="1"/>
              <a:t>ProtoPNet</a:t>
            </a:r>
            <a:r>
              <a:rPr lang="en-US" dirty="0"/>
              <a:t> achieved 93.55% accuracy with 93.59% precision and 93.55% recall during training, and during testing it achieved an accuracy of 85.67%.</a:t>
            </a:r>
            <a:endParaRPr lang="en-IN" dirty="0"/>
          </a:p>
        </p:txBody>
      </p:sp>
      <p:sp>
        <p:nvSpPr>
          <p:cNvPr id="18" name="TextBox 17">
            <a:extLst>
              <a:ext uri="{FF2B5EF4-FFF2-40B4-BE49-F238E27FC236}">
                <a16:creationId xmlns:a16="http://schemas.microsoft.com/office/drawing/2014/main" id="{FF21BF73-FFA0-8430-60AD-60FADFDC878E}"/>
              </a:ext>
            </a:extLst>
          </p:cNvPr>
          <p:cNvSpPr txBox="1"/>
          <p:nvPr/>
        </p:nvSpPr>
        <p:spPr>
          <a:xfrm>
            <a:off x="5296605" y="10978721"/>
            <a:ext cx="4136480" cy="1557906"/>
          </a:xfrm>
          <a:prstGeom prst="rect">
            <a:avLst/>
          </a:prstGeom>
          <a:noFill/>
          <a:ln>
            <a:solidFill>
              <a:srgbClr val="A58255"/>
            </a:solidFill>
          </a:ln>
        </p:spPr>
        <p:txBody>
          <a:bodyPr wrap="square" rtlCol="0">
            <a:noAutofit/>
          </a:bodyPr>
          <a:lstStyle/>
          <a:p>
            <a:pPr algn="just"/>
            <a:r>
              <a:rPr lang="en-IN" dirty="0"/>
              <a:t>[1] A. Iqbal et al., “Enhancing brain tumour multi-classification using EfficientNet-B0 architecture,” </a:t>
            </a:r>
            <a:r>
              <a:rPr lang="en-IN" i="1" dirty="0"/>
              <a:t>Information</a:t>
            </a:r>
            <a:r>
              <a:rPr lang="en-IN" dirty="0"/>
              <a:t>, </a:t>
            </a:r>
            <a:r>
              <a:rPr lang="en-US" dirty="0"/>
              <a:t>IEEE </a:t>
            </a:r>
            <a:r>
              <a:rPr lang="en-IN" dirty="0"/>
              <a:t>vol. 15, no. 8, 2024.</a:t>
            </a:r>
          </a:p>
          <a:p>
            <a:pPr algn="just"/>
            <a:r>
              <a:rPr lang="en-IN" dirty="0"/>
              <a:t>[2] </a:t>
            </a:r>
            <a:r>
              <a:rPr lang="en-US" dirty="0"/>
              <a:t>M. J. Islam and Y. Zhang, "Brain tumor classification using MRI images and deep learning techniques," </a:t>
            </a:r>
            <a:r>
              <a:rPr lang="en-US" i="1" dirty="0"/>
              <a:t>PLOS ONE</a:t>
            </a:r>
            <a:r>
              <a:rPr lang="en-US" dirty="0"/>
              <a:t>, </a:t>
            </a:r>
            <a:r>
              <a:rPr lang="en-US" i="1" dirty="0" err="1"/>
              <a:t>arXiv</a:t>
            </a:r>
            <a:r>
              <a:rPr lang="en-US" dirty="0"/>
              <a:t> vol. 19, no. 5, p. e0301234, 2024.</a:t>
            </a:r>
            <a:endParaRPr lang="en-IN" dirty="0"/>
          </a:p>
        </p:txBody>
      </p:sp>
      <p:sp>
        <p:nvSpPr>
          <p:cNvPr id="3" name="TextBox 2">
            <a:extLst>
              <a:ext uri="{FF2B5EF4-FFF2-40B4-BE49-F238E27FC236}">
                <a16:creationId xmlns:a16="http://schemas.microsoft.com/office/drawing/2014/main" id="{538E27FC-B078-6F5C-B985-17DD8781C106}"/>
              </a:ext>
            </a:extLst>
          </p:cNvPr>
          <p:cNvSpPr txBox="1"/>
          <p:nvPr/>
        </p:nvSpPr>
        <p:spPr>
          <a:xfrm>
            <a:off x="167977" y="10572179"/>
            <a:ext cx="4977174" cy="307777"/>
          </a:xfrm>
          <a:prstGeom prst="rect">
            <a:avLst/>
          </a:prstGeom>
          <a:solidFill>
            <a:srgbClr val="A58255"/>
          </a:solidFill>
        </p:spPr>
        <p:txBody>
          <a:bodyPr wrap="square">
            <a:spAutoFit/>
          </a:bodyPr>
          <a:lstStyle/>
          <a:p>
            <a:r>
              <a:rPr lang="en-US" b="1" dirty="0">
                <a:solidFill>
                  <a:schemeClr val="bg1"/>
                </a:solidFill>
                <a:latin typeface="Inter" panose="020B0604020202020204" charset="0"/>
              </a:rPr>
              <a:t>Project Objectives</a:t>
            </a:r>
            <a:endParaRPr lang="en-IN" dirty="0">
              <a:solidFill>
                <a:schemeClr val="bg1"/>
              </a:solidFill>
            </a:endParaRPr>
          </a:p>
        </p:txBody>
      </p:sp>
      <p:sp>
        <p:nvSpPr>
          <p:cNvPr id="12" name="TextBox 11">
            <a:extLst>
              <a:ext uri="{FF2B5EF4-FFF2-40B4-BE49-F238E27FC236}">
                <a16:creationId xmlns:a16="http://schemas.microsoft.com/office/drawing/2014/main" id="{F6CE9F3C-B86A-D2DF-31AF-AE87546F2123}"/>
              </a:ext>
            </a:extLst>
          </p:cNvPr>
          <p:cNvSpPr txBox="1"/>
          <p:nvPr/>
        </p:nvSpPr>
        <p:spPr>
          <a:xfrm>
            <a:off x="167978" y="10855501"/>
            <a:ext cx="4977173" cy="1557906"/>
          </a:xfrm>
          <a:prstGeom prst="rect">
            <a:avLst/>
          </a:prstGeom>
          <a:noFill/>
          <a:ln>
            <a:solidFill>
              <a:srgbClr val="A58255"/>
            </a:solidFill>
          </a:ln>
        </p:spPr>
        <p:txBody>
          <a:bodyPr wrap="square" rtlCol="0">
            <a:noAutofit/>
          </a:bodyPr>
          <a:lstStyle/>
          <a:p>
            <a:pPr algn="just"/>
            <a:r>
              <a:rPr lang="en-IN" dirty="0"/>
              <a:t>1.To develop an accurate deep learning model for multi-class brain </a:t>
            </a:r>
            <a:r>
              <a:rPr lang="en-IN" dirty="0" err="1"/>
              <a:t>tumor</a:t>
            </a:r>
            <a:r>
              <a:rPr lang="en-IN" dirty="0"/>
              <a:t> classification using MRI images.</a:t>
            </a:r>
          </a:p>
          <a:p>
            <a:pPr algn="just"/>
            <a:r>
              <a:rPr lang="en-IN" dirty="0"/>
              <a:t>2.To integrate multiple models (EfficientNetB0, DenseNet121, </a:t>
            </a:r>
            <a:r>
              <a:rPr lang="en-IN" dirty="0" err="1"/>
              <a:t>ProtoPNet</a:t>
            </a:r>
            <a:r>
              <a:rPr lang="en-IN" dirty="0"/>
              <a:t>) to improve performance and reliability.</a:t>
            </a:r>
          </a:p>
          <a:p>
            <a:pPr algn="just"/>
            <a:r>
              <a:rPr lang="en-IN" dirty="0"/>
              <a:t>3.To provide </a:t>
            </a:r>
            <a:r>
              <a:rPr lang="en-IN" dirty="0" err="1"/>
              <a:t>tumor</a:t>
            </a:r>
            <a:r>
              <a:rPr lang="en-IN" dirty="0"/>
              <a:t> localization and interpretability using image processing and explainable AI techniques.</a:t>
            </a:r>
          </a:p>
        </p:txBody>
      </p:sp>
      <p:sp>
        <p:nvSpPr>
          <p:cNvPr id="25" name="TextBox 24">
            <a:extLst>
              <a:ext uri="{FF2B5EF4-FFF2-40B4-BE49-F238E27FC236}">
                <a16:creationId xmlns:a16="http://schemas.microsoft.com/office/drawing/2014/main" id="{31E49DA5-ADEE-41C5-FC6A-B82BE66D8C49}"/>
              </a:ext>
            </a:extLst>
          </p:cNvPr>
          <p:cNvSpPr txBox="1"/>
          <p:nvPr/>
        </p:nvSpPr>
        <p:spPr>
          <a:xfrm>
            <a:off x="5296605" y="4735372"/>
            <a:ext cx="4136480" cy="307777"/>
          </a:xfrm>
          <a:prstGeom prst="rect">
            <a:avLst/>
          </a:prstGeom>
          <a:solidFill>
            <a:srgbClr val="A58255"/>
          </a:solidFill>
        </p:spPr>
        <p:txBody>
          <a:bodyPr wrap="square">
            <a:spAutoFit/>
          </a:bodyPr>
          <a:lstStyle/>
          <a:p>
            <a:r>
              <a:rPr lang="en-US" b="1" dirty="0">
                <a:solidFill>
                  <a:schemeClr val="bg1"/>
                </a:solidFill>
              </a:rPr>
              <a:t>Results and Discussion</a:t>
            </a:r>
            <a:endParaRPr lang="en-IN" b="1" dirty="0">
              <a:solidFill>
                <a:schemeClr val="bg1"/>
              </a:solidFill>
              <a:effectLst/>
            </a:endParaRPr>
          </a:p>
        </p:txBody>
      </p:sp>
      <p:sp>
        <p:nvSpPr>
          <p:cNvPr id="26" name="TextBox 25">
            <a:extLst>
              <a:ext uri="{FF2B5EF4-FFF2-40B4-BE49-F238E27FC236}">
                <a16:creationId xmlns:a16="http://schemas.microsoft.com/office/drawing/2014/main" id="{2E718335-C6AD-BE6C-1443-0C4A2818180A}"/>
              </a:ext>
            </a:extLst>
          </p:cNvPr>
          <p:cNvSpPr txBox="1"/>
          <p:nvPr/>
        </p:nvSpPr>
        <p:spPr>
          <a:xfrm>
            <a:off x="5296605" y="4980132"/>
            <a:ext cx="4136480" cy="2626116"/>
          </a:xfrm>
          <a:prstGeom prst="rect">
            <a:avLst/>
          </a:prstGeom>
          <a:noFill/>
          <a:ln>
            <a:solidFill>
              <a:srgbClr val="A58255"/>
            </a:solidFill>
          </a:ln>
        </p:spPr>
        <p:txBody>
          <a:bodyPr wrap="square" rtlCol="0">
            <a:noAutofit/>
          </a:bodyPr>
          <a:lstStyle/>
          <a:p>
            <a:r>
              <a:rPr lang="en-US" b="1" dirty="0"/>
              <a:t>INDIVIDUAL MODEL PREDICTION</a:t>
            </a:r>
          </a:p>
          <a:p>
            <a:r>
              <a:rPr lang="en-US" dirty="0" err="1"/>
              <a:t>EfficientNet</a:t>
            </a:r>
            <a:r>
              <a:rPr lang="en-US" dirty="0"/>
              <a:t>: Glioma (65.21%) </a:t>
            </a:r>
          </a:p>
          <a:p>
            <a:r>
              <a:rPr lang="en-US" dirty="0" err="1"/>
              <a:t>DenseNet</a:t>
            </a:r>
            <a:r>
              <a:rPr lang="en-US" dirty="0"/>
              <a:t>: Meningioma (98.92%) </a:t>
            </a:r>
          </a:p>
          <a:p>
            <a:r>
              <a:rPr lang="en-US" dirty="0" err="1"/>
              <a:t>ProtoPNet</a:t>
            </a:r>
            <a:r>
              <a:rPr lang="en-US" dirty="0"/>
              <a:t>: Meningioma (89.26%)</a:t>
            </a:r>
            <a:endParaRPr lang="en-US" b="1" dirty="0"/>
          </a:p>
          <a:p>
            <a:r>
              <a:rPr lang="en-US" b="1" dirty="0"/>
              <a:t>FINAL ENSEMBLE RESULT </a:t>
            </a:r>
          </a:p>
          <a:p>
            <a:r>
              <a:rPr lang="en-US" dirty="0"/>
              <a:t>Prediction: Meningioma </a:t>
            </a:r>
          </a:p>
          <a:p>
            <a:r>
              <a:rPr lang="en-US" dirty="0"/>
              <a:t>Confidence: 98.92% </a:t>
            </a:r>
          </a:p>
          <a:p>
            <a:r>
              <a:rPr lang="en-US" dirty="0"/>
              <a:t>Model Used: </a:t>
            </a:r>
            <a:r>
              <a:rPr lang="en-US" dirty="0" err="1"/>
              <a:t>DenseNet</a:t>
            </a:r>
            <a:endParaRPr lang="en-US" dirty="0"/>
          </a:p>
          <a:p>
            <a:endParaRPr lang="en-IN" dirty="0"/>
          </a:p>
          <a:p>
            <a:r>
              <a:rPr lang="en-IN" dirty="0"/>
              <a:t>The </a:t>
            </a:r>
            <a:r>
              <a:rPr lang="en-IN" b="1" dirty="0" err="1"/>
              <a:t>Tumor</a:t>
            </a:r>
            <a:r>
              <a:rPr lang="en-IN" b="1" dirty="0"/>
              <a:t> Localization</a:t>
            </a:r>
            <a:r>
              <a:rPr lang="en-IN" dirty="0">
                <a:sym typeface="Wingdings" panose="05000000000000000000" pitchFamily="2" charset="2"/>
              </a:rPr>
              <a:t> of the</a:t>
            </a:r>
          </a:p>
          <a:p>
            <a:r>
              <a:rPr lang="en-IN" dirty="0">
                <a:sym typeface="Wingdings" panose="05000000000000000000" pitchFamily="2" charset="2"/>
              </a:rPr>
              <a:t>MRI scan image is this  </a:t>
            </a:r>
            <a:endParaRPr lang="en-IN" dirty="0"/>
          </a:p>
        </p:txBody>
      </p:sp>
      <p:pic>
        <p:nvPicPr>
          <p:cNvPr id="24" name="Picture 23">
            <a:extLst>
              <a:ext uri="{FF2B5EF4-FFF2-40B4-BE49-F238E27FC236}">
                <a16:creationId xmlns:a16="http://schemas.microsoft.com/office/drawing/2014/main" id="{983E5DDE-7976-D4C0-49DC-EBEEFAE4E090}"/>
              </a:ext>
            </a:extLst>
          </p:cNvPr>
          <p:cNvPicPr>
            <a:picLocks noChangeAspect="1"/>
          </p:cNvPicPr>
          <p:nvPr/>
        </p:nvPicPr>
        <p:blipFill>
          <a:blip r:embed="rId4"/>
          <a:stretch>
            <a:fillRect/>
          </a:stretch>
        </p:blipFill>
        <p:spPr>
          <a:xfrm>
            <a:off x="7906718" y="6221210"/>
            <a:ext cx="1340707" cy="1337429"/>
          </a:xfrm>
          <a:prstGeom prst="rect">
            <a:avLst/>
          </a:prstGeom>
        </p:spPr>
      </p:pic>
      <p:pic>
        <p:nvPicPr>
          <p:cNvPr id="28" name="Picture 27">
            <a:extLst>
              <a:ext uri="{FF2B5EF4-FFF2-40B4-BE49-F238E27FC236}">
                <a16:creationId xmlns:a16="http://schemas.microsoft.com/office/drawing/2014/main" id="{95D6D9D8-39B8-01D1-7453-08507ED6A125}"/>
              </a:ext>
            </a:extLst>
          </p:cNvPr>
          <p:cNvPicPr>
            <a:picLocks noChangeAspect="1"/>
          </p:cNvPicPr>
          <p:nvPr/>
        </p:nvPicPr>
        <p:blipFill>
          <a:blip r:embed="rId5"/>
          <a:stretch>
            <a:fillRect/>
          </a:stretch>
        </p:blipFill>
        <p:spPr>
          <a:xfrm>
            <a:off x="8269731" y="4815690"/>
            <a:ext cx="1134906" cy="1203688"/>
          </a:xfrm>
          <a:prstGeom prst="rect">
            <a:avLst/>
          </a:prstGeom>
        </p:spPr>
      </p:pic>
    </p:spTree>
  </p:cSld>
  <p:clrMapOvr>
    <a:masterClrMapping/>
  </p:clrMapOvr>
</p:sld>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TotalTime>
  <Words>775</Words>
  <Application>Microsoft Office PowerPoint</Application>
  <PresentationFormat>A3 Paper (297x420 mm)</PresentationFormat>
  <Paragraphs>42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Inter</vt:lpstr>
      <vt:lpstr>Wingdings</vt:lpstr>
      <vt:lpstr>Plus Jakarta Sans</vt:lpstr>
      <vt:lpstr>Arial</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MANIKONDA SRI DHANVI</cp:lastModifiedBy>
  <cp:revision>39</cp:revision>
  <dcterms:created xsi:type="dcterms:W3CDTF">2022-05-23T07:15:42Z</dcterms:created>
  <dcterms:modified xsi:type="dcterms:W3CDTF">2026-04-13T10:30:55Z</dcterms:modified>
</cp:coreProperties>
</file>